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  <p:sldId id="265" r:id="rId13"/>
    <p:sldId id="268" r:id="rId14"/>
  </p:sldIdLst>
  <p:sldSz cx="12192000" cy="6858000"/>
  <p:notesSz cx="6858000" cy="12192000"/>
  <p:embeddedFontLst>
    <p:embeddedFont>
      <p:font typeface="Play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65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437" autoAdjust="0"/>
  </p:normalViewPr>
  <p:slideViewPr>
    <p:cSldViewPr snapToGrid="0">
      <p:cViewPr varScale="1">
        <p:scale>
          <a:sx n="51" d="100"/>
          <a:sy n="51" d="100"/>
        </p:scale>
        <p:origin x="75" y="9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" name="Google Shape;1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20" name="Google Shape;2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56" name="Google Shape;5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101" name="Google Shape;10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131" name="Google Shape;13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186" name="Google Shape;18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223" name="Google Shape;22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245" name="Google Shape;24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274" name="Google Shape;27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303" name="Google Shape;30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339" name="Google Shape;33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4DB4CDBC-E182-89A6-C949-EAE0B60B9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:notes">
            <a:extLst>
              <a:ext uri="{FF2B5EF4-FFF2-40B4-BE49-F238E27FC236}">
                <a16:creationId xmlns:a16="http://schemas.microsoft.com/office/drawing/2014/main" id="{55582A72-D733-54CF-987B-4541B1B52C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10:notes">
            <a:extLst>
              <a:ext uri="{FF2B5EF4-FFF2-40B4-BE49-F238E27FC236}">
                <a16:creationId xmlns:a16="http://schemas.microsoft.com/office/drawing/2014/main" id="{EFBCCDCA-F93F-AB6B-ACA0-02F1A1F8D5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339" name="Google Shape;339;p10:notes">
            <a:extLst>
              <a:ext uri="{FF2B5EF4-FFF2-40B4-BE49-F238E27FC236}">
                <a16:creationId xmlns:a16="http://schemas.microsoft.com/office/drawing/2014/main" id="{2714F9F4-604D-0B5E-7ECE-F8040D9A2F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158767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">
  <p:cSld name="MASTER">
    <p:bg>
      <p:bgPr>
        <a:solidFill>
          <a:srgbClr val="F7F9FC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3"/>
          <p:cNvCxnSpPr/>
          <p:nvPr/>
        </p:nvCxnSpPr>
        <p:spPr>
          <a:xfrm>
            <a:off x="411480" y="6510528"/>
            <a:ext cx="11356848" cy="0"/>
          </a:xfrm>
          <a:prstGeom prst="straightConnector1">
            <a:avLst/>
          </a:prstGeom>
          <a:noFill/>
          <a:ln w="12700" cap="flat" cmpd="sng">
            <a:solidFill>
              <a:srgbClr val="D9E1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3"/>
          <p:cNvSpPr/>
          <p:nvPr/>
        </p:nvSpPr>
        <p:spPr>
          <a:xfrm>
            <a:off x="438912" y="6574536"/>
            <a:ext cx="4114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7685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SITEPROOF  |  BUSINESS PLAN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1356848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356848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A43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54401" y="320040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1234440" y="320040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2103120" y="320040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25;p4"/>
          <p:cNvCxnSpPr/>
          <p:nvPr/>
        </p:nvCxnSpPr>
        <p:spPr>
          <a:xfrm>
            <a:off x="2971800" y="320040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" name="Google Shape;26;p4"/>
          <p:cNvCxnSpPr/>
          <p:nvPr/>
        </p:nvCxnSpPr>
        <p:spPr>
          <a:xfrm>
            <a:off x="3840480" y="320040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27;p4"/>
          <p:cNvCxnSpPr>
            <a:cxnSpLocks/>
          </p:cNvCxnSpPr>
          <p:nvPr/>
        </p:nvCxnSpPr>
        <p:spPr>
          <a:xfrm>
            <a:off x="4808459" y="320040"/>
            <a:ext cx="0" cy="549783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Google Shape;28;p4"/>
          <p:cNvCxnSpPr/>
          <p:nvPr/>
        </p:nvCxnSpPr>
        <p:spPr>
          <a:xfrm>
            <a:off x="5577840" y="320040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" name="Google Shape;29;p4"/>
          <p:cNvCxnSpPr/>
          <p:nvPr/>
        </p:nvCxnSpPr>
        <p:spPr>
          <a:xfrm>
            <a:off x="6446520" y="320040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4"/>
          <p:cNvCxnSpPr/>
          <p:nvPr/>
        </p:nvCxnSpPr>
        <p:spPr>
          <a:xfrm>
            <a:off x="7315200" y="320040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4"/>
          <p:cNvCxnSpPr/>
          <p:nvPr/>
        </p:nvCxnSpPr>
        <p:spPr>
          <a:xfrm>
            <a:off x="8183880" y="320040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" name="Google Shape;32;p4"/>
          <p:cNvCxnSpPr/>
          <p:nvPr/>
        </p:nvCxnSpPr>
        <p:spPr>
          <a:xfrm>
            <a:off x="9052560" y="320040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" name="Google Shape;33;p4"/>
          <p:cNvCxnSpPr/>
          <p:nvPr/>
        </p:nvCxnSpPr>
        <p:spPr>
          <a:xfrm>
            <a:off x="9921240" y="320040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4"/>
          <p:cNvCxnSpPr/>
          <p:nvPr/>
        </p:nvCxnSpPr>
        <p:spPr>
          <a:xfrm>
            <a:off x="10789920" y="320040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" name="Google Shape;35;p4"/>
          <p:cNvCxnSpPr/>
          <p:nvPr/>
        </p:nvCxnSpPr>
        <p:spPr>
          <a:xfrm>
            <a:off x="11658600" y="320040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4"/>
          <p:cNvCxnSpPr/>
          <p:nvPr/>
        </p:nvCxnSpPr>
        <p:spPr>
          <a:xfrm>
            <a:off x="365760" y="502920"/>
            <a:ext cx="11430000" cy="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4"/>
          <p:cNvCxnSpPr/>
          <p:nvPr/>
        </p:nvCxnSpPr>
        <p:spPr>
          <a:xfrm>
            <a:off x="365760" y="1234440"/>
            <a:ext cx="11430000" cy="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4"/>
          <p:cNvCxnSpPr/>
          <p:nvPr/>
        </p:nvCxnSpPr>
        <p:spPr>
          <a:xfrm>
            <a:off x="365760" y="1965960"/>
            <a:ext cx="11430000" cy="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4"/>
          <p:cNvCxnSpPr/>
          <p:nvPr/>
        </p:nvCxnSpPr>
        <p:spPr>
          <a:xfrm>
            <a:off x="365760" y="2697480"/>
            <a:ext cx="11430000" cy="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4"/>
          <p:cNvCxnSpPr/>
          <p:nvPr/>
        </p:nvCxnSpPr>
        <p:spPr>
          <a:xfrm>
            <a:off x="365760" y="3429000"/>
            <a:ext cx="11430000" cy="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4"/>
          <p:cNvCxnSpPr/>
          <p:nvPr/>
        </p:nvCxnSpPr>
        <p:spPr>
          <a:xfrm>
            <a:off x="365760" y="4160520"/>
            <a:ext cx="11430000" cy="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" name="Google Shape;42;p4"/>
          <p:cNvCxnSpPr/>
          <p:nvPr/>
        </p:nvCxnSpPr>
        <p:spPr>
          <a:xfrm>
            <a:off x="365760" y="4892040"/>
            <a:ext cx="11430000" cy="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p4"/>
          <p:cNvSpPr/>
          <p:nvPr/>
        </p:nvSpPr>
        <p:spPr>
          <a:xfrm>
            <a:off x="0" y="6161056"/>
            <a:ext cx="12188952" cy="696944"/>
          </a:xfrm>
          <a:prstGeom prst="rect">
            <a:avLst/>
          </a:prstGeom>
          <a:solidFill>
            <a:srgbClr val="0A2033">
              <a:alpha val="87843"/>
            </a:srgbClr>
          </a:solidFill>
          <a:ln w="12700" cap="flat" cmpd="sng">
            <a:solidFill>
              <a:srgbClr val="0A20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244084" y="754380"/>
            <a:ext cx="149047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D0FF"/>
              </a:buClr>
              <a:buSzPts val="1200"/>
              <a:buFont typeface="Arial"/>
              <a:buNone/>
            </a:pPr>
            <a:r>
              <a:rPr lang="en-US" b="1" i="0" u="none" strike="noStrike" cap="none" dirty="0">
                <a:solidFill>
                  <a:srgbClr val="E1652B"/>
                </a:solidFill>
                <a:latin typeface="Arial"/>
                <a:ea typeface="Arial"/>
                <a:cs typeface="Arial"/>
                <a:sym typeface="Arial"/>
              </a:rPr>
              <a:t>BUSINESS PLAN</a:t>
            </a:r>
            <a:endParaRPr b="0" i="0" u="none" strike="noStrike" cap="none" dirty="0">
              <a:solidFill>
                <a:srgbClr val="E165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926080" y="982981"/>
            <a:ext cx="61264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Play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Smart Delivery &amp;</a:t>
            </a:r>
            <a:endParaRPr sz="3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Play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Supplier Management Platform</a:t>
            </a:r>
            <a:endParaRPr sz="3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150326" y="2148839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E8F2"/>
              </a:buClr>
              <a:buSzPts val="15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For General Contractors &amp; Material Suppliers in Taiwan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407784" y="6386773"/>
            <a:ext cx="1163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E8F2"/>
              </a:buClr>
              <a:buSzPts val="1050"/>
              <a:buFont typeface="Arial"/>
              <a:buNone/>
            </a:pPr>
            <a:r>
              <a:rPr lang="en-US" sz="1050" b="1" i="0" u="none" strike="noStrike" cap="none" dirty="0" err="1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SiteProof</a:t>
            </a:r>
            <a:r>
              <a:rPr lang="en-US" sz="1050" b="1" i="0" u="none" strike="noStrike" cap="none" dirty="0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 Team</a:t>
            </a:r>
            <a:endParaRPr sz="10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Recording 2026-09-29 102110">
            <a:hlinkClick r:id="" action="ppaction://media"/>
            <a:extLst>
              <a:ext uri="{FF2B5EF4-FFF2-40B4-BE49-F238E27FC236}">
                <a16:creationId xmlns:a16="http://schemas.microsoft.com/office/drawing/2014/main" id="{C3B292F8-8291-AF0F-192A-5F65364770B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28314" y="2733717"/>
            <a:ext cx="7532321" cy="2377440"/>
          </a:xfrm>
          <a:prstGeom prst="rect">
            <a:avLst/>
          </a:prstGeom>
        </p:spPr>
      </p:pic>
      <p:sp>
        <p:nvSpPr>
          <p:cNvPr id="5" name="Google Shape;49;p4">
            <a:extLst>
              <a:ext uri="{FF2B5EF4-FFF2-40B4-BE49-F238E27FC236}">
                <a16:creationId xmlns:a16="http://schemas.microsoft.com/office/drawing/2014/main" id="{2BEA6A55-F48B-5471-E161-0F972FF3C485}"/>
              </a:ext>
            </a:extLst>
          </p:cNvPr>
          <p:cNvSpPr/>
          <p:nvPr/>
        </p:nvSpPr>
        <p:spPr>
          <a:xfrm>
            <a:off x="3063241" y="536067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DCE8F2"/>
              </a:buClr>
              <a:buSzPts val="1500"/>
            </a:pPr>
            <a:r>
              <a:rPr lang="en-US" sz="1600" dirty="0">
                <a:solidFill>
                  <a:schemeClr val="bg1"/>
                </a:solidFill>
              </a:rPr>
              <a:t>Proof of what was ordered, delivered, inspected, and accepted</a:t>
            </a:r>
            <a:endParaRPr sz="1600" b="0" i="0" u="none" strike="noStrike" cap="none" dirty="0">
              <a:solidFill>
                <a:schemeClr val="bg1"/>
              </a:solidFill>
              <a:sym typeface="Arial"/>
            </a:endParaRPr>
          </a:p>
        </p:txBody>
      </p:sp>
      <p:cxnSp>
        <p:nvCxnSpPr>
          <p:cNvPr id="9" name="Google Shape;42;p4">
            <a:extLst>
              <a:ext uri="{FF2B5EF4-FFF2-40B4-BE49-F238E27FC236}">
                <a16:creationId xmlns:a16="http://schemas.microsoft.com/office/drawing/2014/main" id="{775B67C8-86F6-CF84-31D5-B87829FC6B2C}"/>
              </a:ext>
            </a:extLst>
          </p:cNvPr>
          <p:cNvCxnSpPr/>
          <p:nvPr/>
        </p:nvCxnSpPr>
        <p:spPr>
          <a:xfrm>
            <a:off x="365760" y="5680060"/>
            <a:ext cx="11430000" cy="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33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7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6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566928" y="34747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950"/>
              <a:buFont typeface="Arial"/>
              <a:buNone/>
            </a:pPr>
            <a:r>
              <a:rPr lang="en-US" sz="950" b="1" i="0" u="none" strike="noStrike" cap="none" dirty="0">
                <a:solidFill>
                  <a:srgbClr val="E1652B"/>
                </a:solidFill>
                <a:latin typeface="Arial"/>
                <a:ea typeface="Arial"/>
                <a:cs typeface="Arial"/>
                <a:sym typeface="Arial"/>
              </a:rPr>
              <a:t>01  |  EXECUTIVE SUMMARY</a:t>
            </a:r>
            <a:endParaRPr sz="950" b="0" i="0" u="none" strike="noStrike" cap="none" dirty="0">
              <a:solidFill>
                <a:srgbClr val="E165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66928" y="658368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2600"/>
              <a:buFont typeface="Play"/>
              <a:buNone/>
            </a:pPr>
            <a:r>
              <a:rPr lang="en-US" sz="2800" b="1" i="0" u="none" strike="noStrike" cap="none" dirty="0" err="1">
                <a:solidFill>
                  <a:srgbClr val="0D2A43"/>
                </a:solidFill>
                <a:latin typeface="Play"/>
                <a:ea typeface="Play"/>
                <a:cs typeface="Play"/>
                <a:sym typeface="Play"/>
              </a:rPr>
              <a:t>SiteProof</a:t>
            </a:r>
            <a:r>
              <a:rPr lang="en-US" sz="2800" b="1" i="0" u="none" strike="noStrike" cap="none" dirty="0">
                <a:solidFill>
                  <a:srgbClr val="0D2A43"/>
                </a:solidFill>
                <a:latin typeface="Play"/>
                <a:ea typeface="Play"/>
                <a:cs typeface="Play"/>
                <a:sym typeface="Play"/>
              </a:rPr>
              <a:t> focuses on one critical workflow</a:t>
            </a:r>
            <a:endParaRPr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85216" y="1197864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2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A lightweight, plug-and-play platform instead of another heavy ERP.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66925" y="1783074"/>
            <a:ext cx="3840600" cy="4570200"/>
          </a:xfrm>
          <a:prstGeom prst="roundRect">
            <a:avLst>
              <a:gd name="adj" fmla="val 1667"/>
            </a:avLst>
          </a:prstGeom>
          <a:solidFill>
            <a:srgbClr val="0D2A43"/>
          </a:solidFill>
          <a:ln w="12700" cap="flat" cmpd="sng">
            <a:solidFill>
              <a:srgbClr val="0D2A43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841248" y="2057400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D0FF"/>
              </a:buClr>
              <a:buSzPts val="1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THE CORE IDEA</a:t>
            </a:r>
            <a:endParaRPr sz="18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41248" y="2514600"/>
            <a:ext cx="292608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Material</a:t>
            </a:r>
            <a:endParaRPr sz="3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Delivery</a:t>
            </a:r>
            <a:endParaRPr sz="3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Closed-Loop</a:t>
            </a:r>
            <a:endParaRPr sz="3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36775" y="4184700"/>
            <a:ext cx="3300900" cy="1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CF4"/>
              </a:buClr>
              <a:buSzPts val="1300"/>
              <a:buFont typeface="Arial"/>
              <a:buNone/>
            </a:pPr>
            <a:r>
              <a:rPr lang="en-US" sz="1500" b="0" i="0" u="none" strike="noStrike" cap="none">
                <a:solidFill>
                  <a:srgbClr val="E2ECF4"/>
                </a:solidFill>
                <a:latin typeface="Arial"/>
                <a:ea typeface="Arial"/>
                <a:cs typeface="Arial"/>
                <a:sym typeface="Arial"/>
              </a:rPr>
              <a:t>Order → Delivery → Inspection</a:t>
            </a:r>
            <a:endParaRPr sz="1500">
              <a:solidFill>
                <a:srgbClr val="E2ECF4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CF4"/>
              </a:buClr>
              <a:buSzPts val="1300"/>
              <a:buFont typeface="Arial"/>
              <a:buNone/>
            </a:pPr>
            <a:r>
              <a:rPr lang="en-US" sz="1500">
                <a:solidFill>
                  <a:srgbClr val="E2ECF4"/>
                </a:solidFill>
              </a:rPr>
              <a:t>↓</a:t>
            </a:r>
            <a:endParaRPr sz="1500" b="0" i="0" u="none" strike="noStrike" cap="none">
              <a:solidFill>
                <a:srgbClr val="E2ECF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CF4"/>
              </a:buClr>
              <a:buSzPts val="1300"/>
              <a:buFont typeface="Arial"/>
              <a:buNone/>
            </a:pPr>
            <a:r>
              <a:rPr lang="en-US" sz="1500">
                <a:solidFill>
                  <a:srgbClr val="E2ECF4"/>
                </a:solidFill>
              </a:rPr>
              <a:t>Acceptance → Completion</a:t>
            </a:r>
            <a:endParaRPr sz="1500" b="0" i="0" u="none" strike="noStrike" cap="none">
              <a:solidFill>
                <a:srgbClr val="E2EC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841250" y="5769775"/>
            <a:ext cx="3300900" cy="365700"/>
          </a:xfrm>
          <a:prstGeom prst="roundRect">
            <a:avLst>
              <a:gd name="adj" fmla="val 26471"/>
            </a:avLst>
          </a:prstGeom>
          <a:solidFill>
            <a:srgbClr val="E1652B"/>
          </a:solidFill>
          <a:ln w="12700" cap="flat" cmpd="sng">
            <a:solidFill>
              <a:srgbClr val="2B6C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b="1">
                <a:solidFill>
                  <a:schemeClr val="lt1"/>
                </a:solidFill>
              </a:rPr>
              <a:t>ONE SINGLE DELIVERY RECORD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773168" y="1901952"/>
            <a:ext cx="1261872" cy="2331720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937760" y="2121408"/>
            <a:ext cx="475488" cy="475488"/>
          </a:xfrm>
          <a:prstGeom prst="ellipse">
            <a:avLst/>
          </a:prstGeom>
          <a:solidFill>
            <a:srgbClr val="0D2A43"/>
          </a:solidFill>
          <a:ln w="12700" cap="flat" cmpd="sng">
            <a:solidFill>
              <a:srgbClr val="0D2A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926282" y="2189916"/>
            <a:ext cx="475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882896" y="2788920"/>
            <a:ext cx="100584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100"/>
              <a:buFont typeface="Arial"/>
              <a:buNone/>
            </a:pPr>
            <a:r>
              <a:rPr lang="en-US" sz="105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882896" y="3154680"/>
            <a:ext cx="1042415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20"/>
              <a:buFont typeface="Arial"/>
              <a:buNone/>
            </a:pPr>
            <a:r>
              <a:rPr lang="en-US" sz="13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GC creates the delivery record</a:t>
            </a:r>
            <a:endParaRPr sz="14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863169" y="2827820"/>
            <a:ext cx="237600" cy="329100"/>
          </a:xfrm>
          <a:prstGeom prst="chevron">
            <a:avLst>
              <a:gd name="adj" fmla="val 50000"/>
            </a:avLst>
          </a:prstGeom>
          <a:solidFill>
            <a:srgbClr val="B5C3D0"/>
          </a:solidFill>
          <a:ln w="12700" cap="flat" cmpd="sng">
            <a:solidFill>
              <a:srgbClr val="B5C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108192" y="1901952"/>
            <a:ext cx="1261872" cy="2331720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272784" y="2121408"/>
            <a:ext cx="475488" cy="475488"/>
          </a:xfrm>
          <a:prstGeom prst="ellipse">
            <a:avLst/>
          </a:prstGeom>
          <a:solidFill>
            <a:srgbClr val="0D2A43"/>
          </a:solidFill>
          <a:ln w="12700" cap="flat" cmpd="sng">
            <a:solidFill>
              <a:srgbClr val="0D2A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272775" y="2201384"/>
            <a:ext cx="475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217920" y="2788920"/>
            <a:ext cx="100584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100"/>
              <a:buFont typeface="Arial"/>
              <a:buNone/>
            </a:pPr>
            <a:r>
              <a:rPr lang="en-US" sz="105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DELIVERY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217920" y="3154680"/>
            <a:ext cx="1042415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20"/>
              <a:buFont typeface="Arial"/>
              <a:buNone/>
            </a:pPr>
            <a:r>
              <a:rPr lang="en-US" sz="13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Supplier updates status</a:t>
            </a:r>
            <a:endParaRPr sz="14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7198193" y="2827820"/>
            <a:ext cx="237600" cy="329100"/>
          </a:xfrm>
          <a:prstGeom prst="chevron">
            <a:avLst>
              <a:gd name="adj" fmla="val 50000"/>
            </a:avLst>
          </a:prstGeom>
          <a:solidFill>
            <a:srgbClr val="B5C3D0"/>
          </a:solidFill>
          <a:ln w="12700" cap="flat" cmpd="sng">
            <a:solidFill>
              <a:srgbClr val="B5C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7443216" y="1901952"/>
            <a:ext cx="1261872" cy="2331720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7607808" y="2121408"/>
            <a:ext cx="475488" cy="475488"/>
          </a:xfrm>
          <a:prstGeom prst="ellipse">
            <a:avLst/>
          </a:prstGeom>
          <a:solidFill>
            <a:srgbClr val="0D2A43"/>
          </a:solidFill>
          <a:ln w="12700" cap="flat" cmpd="sng">
            <a:solidFill>
              <a:srgbClr val="0D2A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7607800" y="2178450"/>
            <a:ext cx="475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552944" y="2788920"/>
            <a:ext cx="100584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100"/>
              <a:buFont typeface="Arial"/>
              <a:buNone/>
            </a:pPr>
            <a:r>
              <a:rPr lang="en-US" sz="105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INSPECTION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552944" y="3154680"/>
            <a:ext cx="1042415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20"/>
              <a:buFont typeface="Arial"/>
              <a:buNone/>
            </a:pPr>
            <a:r>
              <a:rPr lang="en-US" sz="13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Quantity + quality documents</a:t>
            </a:r>
            <a:endParaRPr sz="14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8533217" y="2827820"/>
            <a:ext cx="237600" cy="329100"/>
          </a:xfrm>
          <a:prstGeom prst="chevron">
            <a:avLst>
              <a:gd name="adj" fmla="val 50000"/>
            </a:avLst>
          </a:prstGeom>
          <a:solidFill>
            <a:srgbClr val="B5C3D0"/>
          </a:solidFill>
          <a:ln w="12700" cap="flat" cmpd="sng">
            <a:solidFill>
              <a:srgbClr val="B5C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8778240" y="1901952"/>
            <a:ext cx="1261872" cy="2331720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942832" y="2121408"/>
            <a:ext cx="475488" cy="475488"/>
          </a:xfrm>
          <a:prstGeom prst="ellipse">
            <a:avLst/>
          </a:prstGeom>
          <a:solidFill>
            <a:srgbClr val="0D2A43"/>
          </a:solidFill>
          <a:ln w="12700" cap="flat" cmpd="sng">
            <a:solidFill>
              <a:srgbClr val="0D2A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942830" y="2178450"/>
            <a:ext cx="475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8887967" y="2788920"/>
            <a:ext cx="100584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100"/>
              <a:buFont typeface="Arial"/>
              <a:buNone/>
            </a:pPr>
            <a:r>
              <a:rPr lang="en-US" sz="105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ACCEPTANCE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887967" y="3154675"/>
            <a:ext cx="1042415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20"/>
              <a:buFont typeface="Arial"/>
              <a:buNone/>
            </a:pPr>
            <a:r>
              <a:rPr lang="en-US" sz="13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Accepted, partial or rejected</a:t>
            </a:r>
            <a:endParaRPr sz="14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9868241" y="2827820"/>
            <a:ext cx="237600" cy="329100"/>
          </a:xfrm>
          <a:prstGeom prst="chevron">
            <a:avLst>
              <a:gd name="adj" fmla="val 50000"/>
            </a:avLst>
          </a:prstGeom>
          <a:solidFill>
            <a:srgbClr val="B5C3D0"/>
          </a:solidFill>
          <a:ln w="12700" cap="flat" cmpd="sng">
            <a:solidFill>
              <a:srgbClr val="B5C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10113264" y="1901952"/>
            <a:ext cx="1261800" cy="2331600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10277856" y="2121408"/>
            <a:ext cx="475488" cy="475488"/>
          </a:xfrm>
          <a:prstGeom prst="ellipse">
            <a:avLst/>
          </a:prstGeom>
          <a:solidFill>
            <a:srgbClr val="0D2A43"/>
          </a:solidFill>
          <a:ln w="12700" cap="flat" cmpd="sng">
            <a:solidFill>
              <a:srgbClr val="0D2A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10277860" y="2178450"/>
            <a:ext cx="475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0222992" y="2788920"/>
            <a:ext cx="100584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100"/>
              <a:buFont typeface="Arial"/>
              <a:buNone/>
            </a:pPr>
            <a:r>
              <a:rPr lang="en-US" sz="105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COMPLETION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0222992" y="3154680"/>
            <a:ext cx="1042415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20"/>
              <a:buFont typeface="Arial"/>
              <a:buNone/>
            </a:pPr>
            <a:r>
              <a:rPr lang="en-US" sz="13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Retention + 1–5 supplier rating</a:t>
            </a:r>
            <a:endParaRPr sz="14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800600" y="4736600"/>
            <a:ext cx="5193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200"/>
              <a:buFont typeface="Arial"/>
              <a:buNone/>
            </a:pPr>
            <a:r>
              <a:rPr lang="en-US" sz="30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Why not replace the ERP?</a:t>
            </a: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800600" y="5063475"/>
            <a:ext cx="6977400" cy="10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300"/>
              <a:buFont typeface="Arial"/>
              <a:buNone/>
            </a:pPr>
            <a:r>
              <a:rPr lang="en-US" sz="1800" b="0" i="0" u="none" strike="noStrike" cap="none">
                <a:solidFill>
                  <a:srgbClr val="1A2430"/>
                </a:solidFill>
                <a:latin typeface="Arial"/>
                <a:ea typeface="Arial"/>
                <a:cs typeface="Arial"/>
                <a:sym typeface="Arial"/>
              </a:rPr>
              <a:t>SiteProof is intentionally narrow: it improves visibility and accountability around material procurement and on-site delivery without requiring a full ERP implementation.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 txBox="1">
            <a:spLocks noGrp="1"/>
          </p:cNvSpPr>
          <p:nvPr>
            <p:ph type="sldNum" idx="4294967295"/>
          </p:nvPr>
        </p:nvSpPr>
        <p:spPr>
          <a:xfrm>
            <a:off x="11356848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800" b="0" i="0" u="none" strike="noStrike" cap="non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EEEC7A-ABA5-28E8-6B52-EDD727D69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683"/>
          <a:stretch>
            <a:fillRect/>
          </a:stretch>
        </p:blipFill>
        <p:spPr>
          <a:xfrm>
            <a:off x="11375064" y="171380"/>
            <a:ext cx="590605" cy="7545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/>
          <p:nvPr/>
        </p:nvSpPr>
        <p:spPr>
          <a:xfrm>
            <a:off x="566928" y="34747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950"/>
              <a:buFont typeface="Arial"/>
              <a:buNone/>
            </a:pPr>
            <a:r>
              <a:rPr lang="en-US" sz="950" b="1" i="0" u="none" strike="noStrike" cap="none" dirty="0">
                <a:solidFill>
                  <a:srgbClr val="E1652B"/>
                </a:solidFill>
                <a:latin typeface="Arial"/>
                <a:ea typeface="Arial"/>
                <a:cs typeface="Arial"/>
                <a:sym typeface="Arial"/>
              </a:rPr>
              <a:t>02  |  PROBLEM</a:t>
            </a:r>
            <a:endParaRPr sz="950" b="0" i="0" u="none" strike="noStrike" cap="none" dirty="0">
              <a:solidFill>
                <a:srgbClr val="E165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66925" y="658375"/>
            <a:ext cx="115899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2600"/>
              <a:buFont typeface="Play"/>
              <a:buNone/>
            </a:pPr>
            <a:r>
              <a:rPr lang="en-US" sz="2800" b="1" dirty="0">
                <a:solidFill>
                  <a:srgbClr val="0D2A43"/>
                </a:solidFill>
                <a:latin typeface="Play"/>
                <a:ea typeface="Play"/>
                <a:cs typeface="Play"/>
                <a:sym typeface="Play"/>
              </a:rPr>
              <a:t>3 pain points create cost, delay, and friction</a:t>
            </a:r>
            <a:endParaRPr sz="3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85216" y="1197864"/>
            <a:ext cx="10607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200"/>
              <a:buFont typeface="Arial"/>
              <a:buNone/>
            </a:pPr>
            <a:r>
              <a:rPr lang="en-US" sz="21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The same delivery process touches budget, schedule, quality, and supplier performance.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58368" y="1828800"/>
            <a:ext cx="5102352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658368" y="1828800"/>
            <a:ext cx="109728" cy="1810512"/>
          </a:xfrm>
          <a:prstGeom prst="rect">
            <a:avLst/>
          </a:prstGeom>
          <a:solidFill>
            <a:srgbClr val="2B6CB0"/>
          </a:solidFill>
          <a:ln w="12700" cap="flat" cmpd="sng">
            <a:solidFill>
              <a:srgbClr val="2B6C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914400" y="2057400"/>
            <a:ext cx="4389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000"/>
              <a:buFont typeface="Arial"/>
              <a:buNone/>
            </a:pPr>
            <a:r>
              <a:rPr lang="en-US" sz="3000" b="1" i="0" u="none" strike="noStrike" cap="non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408176" y="2029968"/>
            <a:ext cx="404164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700"/>
              <a:buFont typeface="Arial"/>
              <a:buNone/>
            </a:pPr>
            <a:r>
              <a:rPr lang="en-US" sz="2100" b="1" i="0" u="none" strike="noStrike" cap="none" dirty="0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Delivery Visibility</a:t>
            </a:r>
            <a:endParaRPr sz="2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408175" y="2442725"/>
            <a:ext cx="4041600" cy="10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15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Urban jobsites have limited space. Early arrivals cause congestion; late arrivals create waiting time and cost overruns.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144768" y="1828800"/>
            <a:ext cx="5102352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144768" y="1828800"/>
            <a:ext cx="109728" cy="1810512"/>
          </a:xfrm>
          <a:prstGeom prst="rect">
            <a:avLst/>
          </a:prstGeom>
          <a:solidFill>
            <a:srgbClr val="E6A23C"/>
          </a:solidFill>
          <a:ln w="12700" cap="flat" cmpd="sng">
            <a:solidFill>
              <a:srgbClr val="E6A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400800" y="2057400"/>
            <a:ext cx="4389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A23C"/>
              </a:buClr>
              <a:buSzPts val="1000"/>
              <a:buFont typeface="Arial"/>
              <a:buNone/>
            </a:pPr>
            <a:r>
              <a:rPr lang="en-US" sz="2400" b="1" i="0" u="none" strike="noStrike" cap="none">
                <a:solidFill>
                  <a:srgbClr val="E6A23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894576" y="2029968"/>
            <a:ext cx="4185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700"/>
              <a:buFont typeface="Arial"/>
              <a:buNone/>
            </a:pPr>
            <a:r>
              <a:rPr lang="en-US" sz="2100" b="1" i="0" u="none" strike="noStrike" cap="none" dirty="0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Receiving &amp; Quality Traceability</a:t>
            </a:r>
            <a:endParaRPr sz="2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894576" y="2542032"/>
            <a:ext cx="4041648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15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Quality inspection reports and ESG certifications are often paper-based, making field and back-office verification extremely time-consuming.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3544824" y="3867912"/>
            <a:ext cx="5102352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3544824" y="3867912"/>
            <a:ext cx="109728" cy="1810512"/>
          </a:xfrm>
          <a:prstGeom prst="rect">
            <a:avLst/>
          </a:prstGeom>
          <a:solidFill>
            <a:srgbClr val="3FA37C"/>
          </a:solidFill>
          <a:ln w="12700" cap="flat" cmpd="sng">
            <a:solidFill>
              <a:srgbClr val="3FA3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3800856" y="4096512"/>
            <a:ext cx="4389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37C"/>
              </a:buClr>
              <a:buSzPts val="1000"/>
              <a:buFont typeface="Arial"/>
              <a:buNone/>
            </a:pPr>
            <a:r>
              <a:rPr lang="en-US" sz="2400" b="1" i="0" u="none" strike="noStrike" cap="none">
                <a:solidFill>
                  <a:srgbClr val="3FA37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294632" y="4069079"/>
            <a:ext cx="4250346" cy="347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700"/>
              <a:buFont typeface="Arial"/>
              <a:buNone/>
            </a:pPr>
            <a:r>
              <a:rPr lang="en-US" sz="2100" b="1" i="0" u="none" strike="noStrike" cap="none" dirty="0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Cost and Supplier Accountability</a:t>
            </a:r>
            <a:endParaRPr sz="2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294632" y="4581144"/>
            <a:ext cx="4041648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15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Budget volatility risks and paper delivery slips complicate monthly valuation and make supplier history difficult to track.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85800" y="6007608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400"/>
              <a:buFont typeface="Arial"/>
              <a:buNone/>
            </a:pPr>
            <a:r>
              <a:rPr lang="en-US" sz="20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The common issue: information is fragmented across paper, calls, and messages.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 txBox="1">
            <a:spLocks noGrp="1"/>
          </p:cNvSpPr>
          <p:nvPr>
            <p:ph type="sldNum" idx="4294967295"/>
          </p:nvPr>
        </p:nvSpPr>
        <p:spPr>
          <a:xfrm>
            <a:off x="11356848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800" b="0" i="0" u="none" strike="noStrike" cap="non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BAB478-B62D-5C5C-6D6B-CD98A4982B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683"/>
          <a:stretch>
            <a:fillRect/>
          </a:stretch>
        </p:blipFill>
        <p:spPr>
          <a:xfrm>
            <a:off x="11375064" y="171380"/>
            <a:ext cx="590605" cy="7545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566928" y="34747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950"/>
              <a:buFont typeface="Arial"/>
              <a:buNone/>
            </a:pPr>
            <a:r>
              <a:rPr lang="en-US" sz="950" b="1" i="0" u="none" strike="noStrike" cap="none" dirty="0">
                <a:solidFill>
                  <a:srgbClr val="E1652B"/>
                </a:solidFill>
                <a:latin typeface="Arial"/>
                <a:ea typeface="Arial"/>
                <a:cs typeface="Arial"/>
                <a:sym typeface="Arial"/>
              </a:rPr>
              <a:t>03  |  SOLUTION</a:t>
            </a:r>
            <a:endParaRPr sz="950" b="0" i="0" u="none" strike="noStrike" cap="none" dirty="0">
              <a:solidFill>
                <a:srgbClr val="E165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66928" y="658368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2600"/>
              <a:buFont typeface="Play"/>
              <a:buNone/>
            </a:pPr>
            <a:r>
              <a:rPr lang="en-US" sz="2800" b="1" i="0" u="none" strike="noStrike" cap="none">
                <a:solidFill>
                  <a:srgbClr val="0D2A43"/>
                </a:solidFill>
                <a:latin typeface="Play"/>
                <a:ea typeface="Play"/>
                <a:cs typeface="Play"/>
                <a:sym typeface="Play"/>
              </a:rPr>
              <a:t>One delivery record connects the whole workflow</a:t>
            </a: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85216" y="1197864"/>
            <a:ext cx="10607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200"/>
              <a:buFont typeface="Arial"/>
              <a:buNone/>
            </a:pPr>
            <a:r>
              <a:rPr lang="en-US" sz="19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The platform keeps the delivery itself as the central business object.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7"/>
          <p:cNvGrpSpPr/>
          <p:nvPr/>
        </p:nvGrpSpPr>
        <p:grpSpPr>
          <a:xfrm>
            <a:off x="4779300" y="2112295"/>
            <a:ext cx="2633400" cy="2633410"/>
            <a:chOff x="4828032" y="2148840"/>
            <a:chExt cx="2633400" cy="2633410"/>
          </a:xfrm>
        </p:grpSpPr>
        <p:sp>
          <p:nvSpPr>
            <p:cNvPr id="137" name="Google Shape;137;p7"/>
            <p:cNvSpPr/>
            <p:nvPr/>
          </p:nvSpPr>
          <p:spPr>
            <a:xfrm>
              <a:off x="4828032" y="2148840"/>
              <a:ext cx="2633400" cy="2633400"/>
            </a:xfrm>
            <a:prstGeom prst="ellipse">
              <a:avLst/>
            </a:prstGeom>
            <a:solidFill>
              <a:srgbClr val="EAF3FB"/>
            </a:solidFill>
            <a:ln w="19050" cap="flat" cmpd="sng">
              <a:solidFill>
                <a:srgbClr val="B9D7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5227884" y="2148850"/>
              <a:ext cx="1828800" cy="26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D2A43"/>
                </a:buClr>
                <a:buSzPts val="1800"/>
                <a:buFont typeface="Play"/>
                <a:buNone/>
              </a:pPr>
              <a:r>
                <a:rPr lang="en-US" sz="2500" b="1" i="0" u="none" strike="noStrike" cap="none">
                  <a:solidFill>
                    <a:srgbClr val="0D2A43"/>
                  </a:solidFill>
                  <a:latin typeface="Play"/>
                  <a:ea typeface="Play"/>
                  <a:cs typeface="Play"/>
                  <a:sym typeface="Play"/>
                </a:rPr>
                <a:t>ONE SINGLE</a:t>
              </a: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D2A43"/>
                </a:buClr>
                <a:buSzPts val="1800"/>
                <a:buFont typeface="Play"/>
                <a:buNone/>
              </a:pPr>
              <a:r>
                <a:rPr lang="en-US" sz="2500" b="1" i="0" u="none" strike="noStrike" cap="none">
                  <a:solidFill>
                    <a:srgbClr val="0D2A43"/>
                  </a:solidFill>
                  <a:latin typeface="Play"/>
                  <a:ea typeface="Play"/>
                  <a:cs typeface="Play"/>
                  <a:sym typeface="Play"/>
                </a:rPr>
                <a:t>DELIVERY</a:t>
              </a: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D2A43"/>
                </a:buClr>
                <a:buSzPts val="1800"/>
                <a:buFont typeface="Play"/>
                <a:buNone/>
              </a:pPr>
              <a:r>
                <a:rPr lang="en-US" sz="2500" b="1" i="0" u="none" strike="noStrike" cap="none">
                  <a:solidFill>
                    <a:srgbClr val="0D2A43"/>
                  </a:solidFill>
                  <a:latin typeface="Play"/>
                  <a:ea typeface="Play"/>
                  <a:cs typeface="Play"/>
                  <a:sym typeface="Play"/>
                </a:rPr>
                <a:t>RECORD</a:t>
              </a: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7"/>
          <p:cNvGrpSpPr/>
          <p:nvPr/>
        </p:nvGrpSpPr>
        <p:grpSpPr>
          <a:xfrm>
            <a:off x="7027003" y="1736449"/>
            <a:ext cx="4981500" cy="914400"/>
            <a:chOff x="7033728" y="1764849"/>
            <a:chExt cx="4981500" cy="914400"/>
          </a:xfrm>
        </p:grpSpPr>
        <p:sp>
          <p:nvSpPr>
            <p:cNvPr id="140" name="Google Shape;140;p7"/>
            <p:cNvSpPr/>
            <p:nvPr/>
          </p:nvSpPr>
          <p:spPr>
            <a:xfrm>
              <a:off x="9272028" y="1764849"/>
              <a:ext cx="2743200" cy="914400"/>
            </a:xfrm>
            <a:prstGeom prst="roundRect">
              <a:avLst>
                <a:gd name="adj" fmla="val 7955"/>
              </a:avLst>
            </a:prstGeom>
            <a:solidFill>
              <a:srgbClr val="FFFFFF"/>
            </a:solidFill>
            <a:ln w="12700" cap="flat" cmpd="sng">
              <a:solidFill>
                <a:srgbClr val="D8E0E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700" dist="50800" dir="2700000" algn="bl" rotWithShape="0">
                <a:srgbClr val="CBD5E1">
                  <a:alpha val="14118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9381744" y="2020824"/>
              <a:ext cx="457200" cy="457200"/>
            </a:xfrm>
            <a:prstGeom prst="ellipse">
              <a:avLst/>
            </a:prstGeom>
            <a:solidFill>
              <a:srgbClr val="7C67B7"/>
            </a:solidFill>
            <a:ln w="12700" cap="flat" cmpd="sng">
              <a:solidFill>
                <a:srgbClr val="7C6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9381744" y="202509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9939528" y="2020824"/>
              <a:ext cx="18288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2A43"/>
                </a:buClr>
                <a:buSzPts val="105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0D2A43"/>
                  </a:solidFill>
                  <a:latin typeface="Arial"/>
                  <a:ea typeface="Arial"/>
                  <a:cs typeface="Arial"/>
                  <a:sym typeface="Arial"/>
                </a:rPr>
                <a:t>QUALITY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9985399" y="2325392"/>
              <a:ext cx="18288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D6B7A"/>
                </a:buClr>
                <a:buSzPts val="880"/>
                <a:buFont typeface="Arial"/>
                <a:buNone/>
              </a:pPr>
              <a:r>
                <a:rPr lang="en-US" b="0" i="0" u="none" strike="noStrike" cap="none">
                  <a:solidFill>
                    <a:srgbClr val="5D6B7A"/>
                  </a:solidFill>
                  <a:latin typeface="Arial"/>
                  <a:ea typeface="Arial"/>
                  <a:cs typeface="Arial"/>
                  <a:sym typeface="Arial"/>
                </a:rPr>
                <a:t>PDF / JPG + acceptance</a:t>
              </a:r>
              <a:endParaRPr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" name="Google Shape;145;p7"/>
            <p:cNvCxnSpPr>
              <a:stCxn id="140" idx="1"/>
              <a:endCxn id="137" idx="7"/>
            </p:cNvCxnSpPr>
            <p:nvPr/>
          </p:nvCxnSpPr>
          <p:spPr>
            <a:xfrm flipH="1">
              <a:off x="7033728" y="2222049"/>
              <a:ext cx="2238300" cy="304200"/>
            </a:xfrm>
            <a:prstGeom prst="straightConnector1">
              <a:avLst/>
            </a:prstGeom>
            <a:noFill/>
            <a:ln w="20300" cap="flat" cmpd="sng">
              <a:solidFill>
                <a:srgbClr val="AFC0C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46" name="Google Shape;146;p7"/>
          <p:cNvGrpSpPr/>
          <p:nvPr/>
        </p:nvGrpSpPr>
        <p:grpSpPr>
          <a:xfrm>
            <a:off x="7412798" y="2958087"/>
            <a:ext cx="4595700" cy="914400"/>
            <a:chOff x="5206048" y="1163337"/>
            <a:chExt cx="4595700" cy="914400"/>
          </a:xfrm>
        </p:grpSpPr>
        <p:sp>
          <p:nvSpPr>
            <p:cNvPr id="147" name="Google Shape;147;p7"/>
            <p:cNvSpPr/>
            <p:nvPr/>
          </p:nvSpPr>
          <p:spPr>
            <a:xfrm>
              <a:off x="7058548" y="1163337"/>
              <a:ext cx="2743200" cy="914400"/>
            </a:xfrm>
            <a:prstGeom prst="roundRect">
              <a:avLst>
                <a:gd name="adj" fmla="val 7955"/>
              </a:avLst>
            </a:prstGeom>
            <a:solidFill>
              <a:srgbClr val="FFFFFF"/>
            </a:solidFill>
            <a:ln w="12700" cap="flat" cmpd="sng">
              <a:solidFill>
                <a:srgbClr val="D8E0E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700" dist="50800" dir="2700000" algn="bl" rotWithShape="0">
                <a:srgbClr val="CBD5E1">
                  <a:alpha val="14118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7255451" y="1340617"/>
              <a:ext cx="457200" cy="457200"/>
            </a:xfrm>
            <a:prstGeom prst="ellipse">
              <a:avLst/>
            </a:prstGeom>
            <a:solidFill>
              <a:srgbClr val="D96A6A"/>
            </a:solidFill>
            <a:ln w="12700" cap="flat" cmpd="sng">
              <a:solidFill>
                <a:srgbClr val="D96A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7255451" y="1340604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7759145" y="1381824"/>
              <a:ext cx="19449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2A43"/>
                </a:buClr>
                <a:buSzPts val="105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0D2A43"/>
                  </a:solidFill>
                  <a:latin typeface="Arial"/>
                  <a:ea typeface="Arial"/>
                  <a:cs typeface="Arial"/>
                  <a:sym typeface="Arial"/>
                </a:rPr>
                <a:t>RETENTION</a:t>
              </a:r>
              <a:endParaRPr sz="2400" b="1" i="0" u="none" strike="noStrike" cap="none">
                <a:solidFill>
                  <a:schemeClr val="dk1"/>
                </a:solidFill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7783450" y="1684642"/>
              <a:ext cx="18288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D6B7A"/>
                </a:buClr>
                <a:buSzPts val="880"/>
                <a:buFont typeface="Arial"/>
                <a:buNone/>
              </a:pPr>
              <a:r>
                <a:rPr lang="en-US" b="0" i="0" u="none" strike="noStrike" cap="none">
                  <a:solidFill>
                    <a:srgbClr val="5D6B7A"/>
                  </a:solidFill>
                  <a:latin typeface="Arial"/>
                  <a:ea typeface="Arial"/>
                  <a:cs typeface="Arial"/>
                  <a:sym typeface="Arial"/>
                </a:rPr>
                <a:t>Set per contract</a:t>
              </a:r>
              <a:endParaRPr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" name="Google Shape;152;p7"/>
            <p:cNvCxnSpPr>
              <a:stCxn id="147" idx="1"/>
              <a:endCxn id="137" idx="6"/>
            </p:cNvCxnSpPr>
            <p:nvPr/>
          </p:nvCxnSpPr>
          <p:spPr>
            <a:xfrm flipH="1">
              <a:off x="5206048" y="1620537"/>
              <a:ext cx="1852500" cy="13800"/>
            </a:xfrm>
            <a:prstGeom prst="straightConnector1">
              <a:avLst/>
            </a:prstGeom>
            <a:noFill/>
            <a:ln w="20300" cap="flat" cmpd="sng">
              <a:solidFill>
                <a:srgbClr val="AFC0C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53" name="Google Shape;153;p7"/>
          <p:cNvSpPr/>
          <p:nvPr/>
        </p:nvSpPr>
        <p:spPr>
          <a:xfrm>
            <a:off x="749808" y="566928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500"/>
              <a:buFont typeface="Arial"/>
              <a:buNone/>
            </a:pPr>
            <a:r>
              <a:rPr lang="en-US" sz="18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Less manual coordination. More visibility and accountability.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 txBox="1">
            <a:spLocks noGrp="1"/>
          </p:cNvSpPr>
          <p:nvPr>
            <p:ph type="sldNum" idx="4294967295"/>
          </p:nvPr>
        </p:nvSpPr>
        <p:spPr>
          <a:xfrm>
            <a:off x="11356848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800" b="0" i="0" u="none" strike="noStrike" cap="non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155;p7"/>
          <p:cNvGrpSpPr/>
          <p:nvPr/>
        </p:nvGrpSpPr>
        <p:grpSpPr>
          <a:xfrm>
            <a:off x="7027003" y="4150924"/>
            <a:ext cx="4981500" cy="914400"/>
            <a:chOff x="7033728" y="1764849"/>
            <a:chExt cx="4981500" cy="914400"/>
          </a:xfrm>
        </p:grpSpPr>
        <p:sp>
          <p:nvSpPr>
            <p:cNvPr id="156" name="Google Shape;156;p7"/>
            <p:cNvSpPr/>
            <p:nvPr/>
          </p:nvSpPr>
          <p:spPr>
            <a:xfrm>
              <a:off x="9272028" y="1764849"/>
              <a:ext cx="2743200" cy="914400"/>
            </a:xfrm>
            <a:prstGeom prst="roundRect">
              <a:avLst>
                <a:gd name="adj" fmla="val 7955"/>
              </a:avLst>
            </a:prstGeom>
            <a:solidFill>
              <a:srgbClr val="FFFFFF"/>
            </a:solidFill>
            <a:ln w="12700" cap="flat" cmpd="sng">
              <a:solidFill>
                <a:srgbClr val="D8E0E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700" dist="50800" dir="2700000" algn="bl" rotWithShape="0">
                <a:srgbClr val="CBD5E1">
                  <a:alpha val="1412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9381744" y="2020824"/>
              <a:ext cx="457200" cy="457200"/>
            </a:xfrm>
            <a:prstGeom prst="ellipse">
              <a:avLst/>
            </a:prstGeom>
            <a:solidFill>
              <a:srgbClr val="3FA37C"/>
            </a:solidFill>
            <a:ln w="12700" cap="flat" cmpd="sng">
              <a:solidFill>
                <a:srgbClr val="3FA37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9381744" y="2093900"/>
              <a:ext cx="457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9939528" y="2020824"/>
              <a:ext cx="18288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2A43"/>
                </a:buClr>
                <a:buSzPts val="1050"/>
                <a:buFont typeface="Arial"/>
                <a:buNone/>
              </a:pPr>
              <a:r>
                <a:rPr lang="en-US" sz="2400" b="1">
                  <a:solidFill>
                    <a:srgbClr val="0D2A43"/>
                  </a:solidFill>
                </a:rPr>
                <a:t>ARRIVAL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9985400" y="2325407"/>
              <a:ext cx="18288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D6B7A"/>
                </a:buClr>
                <a:buSzPts val="880"/>
                <a:buFont typeface="Arial"/>
                <a:buNone/>
              </a:pPr>
              <a:r>
                <a:rPr lang="en-US">
                  <a:solidFill>
                    <a:srgbClr val="5D6B7A"/>
                  </a:solidFill>
                </a:rPr>
                <a:t>Status tracking</a:t>
              </a:r>
              <a:endParaRPr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1" name="Google Shape;161;p7"/>
            <p:cNvCxnSpPr>
              <a:stCxn id="156" idx="1"/>
              <a:endCxn id="137" idx="5"/>
            </p:cNvCxnSpPr>
            <p:nvPr/>
          </p:nvCxnSpPr>
          <p:spPr>
            <a:xfrm rot="10800000">
              <a:off x="7033728" y="1973949"/>
              <a:ext cx="2238300" cy="248100"/>
            </a:xfrm>
            <a:prstGeom prst="straightConnector1">
              <a:avLst/>
            </a:prstGeom>
            <a:noFill/>
            <a:ln w="20300" cap="flat" cmpd="sng">
              <a:solidFill>
                <a:srgbClr val="AFC0C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62" name="Google Shape;162;p7"/>
          <p:cNvGrpSpPr/>
          <p:nvPr/>
        </p:nvGrpSpPr>
        <p:grpSpPr>
          <a:xfrm>
            <a:off x="633078" y="1736449"/>
            <a:ext cx="4531800" cy="914400"/>
            <a:chOff x="9272028" y="1764849"/>
            <a:chExt cx="4531800" cy="914400"/>
          </a:xfrm>
        </p:grpSpPr>
        <p:sp>
          <p:nvSpPr>
            <p:cNvPr id="163" name="Google Shape;163;p7"/>
            <p:cNvSpPr/>
            <p:nvPr/>
          </p:nvSpPr>
          <p:spPr>
            <a:xfrm>
              <a:off x="9272028" y="1764849"/>
              <a:ext cx="2743200" cy="914400"/>
            </a:xfrm>
            <a:prstGeom prst="roundRect">
              <a:avLst>
                <a:gd name="adj" fmla="val 7955"/>
              </a:avLst>
            </a:prstGeom>
            <a:solidFill>
              <a:srgbClr val="FFFFFF"/>
            </a:solidFill>
            <a:ln w="12700" cap="flat" cmpd="sng">
              <a:solidFill>
                <a:srgbClr val="D8E0E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700" dist="50800" dir="2700000" algn="bl" rotWithShape="0">
                <a:srgbClr val="CBD5E1">
                  <a:alpha val="1412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9381744" y="2020824"/>
              <a:ext cx="457200" cy="457200"/>
            </a:xfrm>
            <a:prstGeom prst="ellipse">
              <a:avLst/>
            </a:prstGeom>
            <a:solidFill>
              <a:srgbClr val="193B5A"/>
            </a:solidFill>
            <a:ln w="12700" cap="flat" cmpd="sng">
              <a:solidFill>
                <a:srgbClr val="193B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9381744" y="2093900"/>
              <a:ext cx="457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9939528" y="2020824"/>
              <a:ext cx="18288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2A43"/>
                </a:buClr>
                <a:buSzPts val="1050"/>
                <a:buFont typeface="Arial"/>
                <a:buNone/>
              </a:pPr>
              <a:r>
                <a:rPr lang="en-US" sz="2400" b="1">
                  <a:solidFill>
                    <a:srgbClr val="0D2A43"/>
                  </a:solidFill>
                </a:rPr>
                <a:t>RATING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9985400" y="2325407"/>
              <a:ext cx="18288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D6B7A"/>
                </a:buClr>
                <a:buSzPts val="880"/>
                <a:buFont typeface="Arial"/>
                <a:buNone/>
              </a:pPr>
              <a:r>
                <a:rPr lang="en-US">
                  <a:solidFill>
                    <a:srgbClr val="5D6B7A"/>
                  </a:solidFill>
                </a:rPr>
                <a:t>1–5 stars</a:t>
              </a:r>
              <a:endParaRPr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8" name="Google Shape;168;p7"/>
            <p:cNvCxnSpPr>
              <a:stCxn id="163" idx="3"/>
              <a:endCxn id="137" idx="1"/>
            </p:cNvCxnSpPr>
            <p:nvPr/>
          </p:nvCxnSpPr>
          <p:spPr>
            <a:xfrm>
              <a:off x="12015228" y="2222049"/>
              <a:ext cx="1788600" cy="304200"/>
            </a:xfrm>
            <a:prstGeom prst="straightConnector1">
              <a:avLst/>
            </a:prstGeom>
            <a:noFill/>
            <a:ln w="20300" cap="flat" cmpd="sng">
              <a:solidFill>
                <a:srgbClr val="AFC0C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69" name="Google Shape;169;p7"/>
          <p:cNvGrpSpPr/>
          <p:nvPr/>
        </p:nvGrpSpPr>
        <p:grpSpPr>
          <a:xfrm>
            <a:off x="566928" y="2958087"/>
            <a:ext cx="4212300" cy="914400"/>
            <a:chOff x="9272028" y="1764849"/>
            <a:chExt cx="4212300" cy="914400"/>
          </a:xfrm>
        </p:grpSpPr>
        <p:sp>
          <p:nvSpPr>
            <p:cNvPr id="170" name="Google Shape;170;p7"/>
            <p:cNvSpPr/>
            <p:nvPr/>
          </p:nvSpPr>
          <p:spPr>
            <a:xfrm>
              <a:off x="9272028" y="1764849"/>
              <a:ext cx="2743200" cy="914400"/>
            </a:xfrm>
            <a:prstGeom prst="roundRect">
              <a:avLst>
                <a:gd name="adj" fmla="val 7955"/>
              </a:avLst>
            </a:prstGeom>
            <a:solidFill>
              <a:srgbClr val="FFFFFF"/>
            </a:solidFill>
            <a:ln w="12700" cap="flat" cmpd="sng">
              <a:solidFill>
                <a:srgbClr val="D8E0E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700" dist="50800" dir="2700000" algn="bl" rotWithShape="0">
                <a:srgbClr val="CBD5E1">
                  <a:alpha val="1412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9381744" y="2020824"/>
              <a:ext cx="457200" cy="457200"/>
            </a:xfrm>
            <a:prstGeom prst="ellipse">
              <a:avLst/>
            </a:prstGeom>
            <a:solidFill>
              <a:srgbClr val="2B6CB0"/>
            </a:solidFill>
            <a:ln w="12700" cap="flat" cmpd="sng">
              <a:solidFill>
                <a:srgbClr val="2B6CB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9381744" y="2093900"/>
              <a:ext cx="457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9939528" y="2020824"/>
              <a:ext cx="18288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2A43"/>
                </a:buClr>
                <a:buSzPts val="1050"/>
                <a:buFont typeface="Arial"/>
                <a:buNone/>
              </a:pPr>
              <a:r>
                <a:rPr lang="en-US" sz="2400" b="1">
                  <a:solidFill>
                    <a:srgbClr val="0D2A43"/>
                  </a:solidFill>
                </a:rPr>
                <a:t>ORDER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9985400" y="2325407"/>
              <a:ext cx="18288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D6B7A"/>
                </a:buClr>
                <a:buSzPts val="880"/>
                <a:buFont typeface="Arial"/>
                <a:buNone/>
              </a:pPr>
              <a:r>
                <a:rPr lang="en-US" dirty="0">
                  <a:solidFill>
                    <a:srgbClr val="5D6B7A"/>
                  </a:solidFill>
                </a:rPr>
                <a:t>Create / Schedule</a:t>
              </a:r>
              <a:endParaRPr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5" name="Google Shape;175;p7"/>
            <p:cNvCxnSpPr>
              <a:stCxn id="170" idx="3"/>
              <a:endCxn id="137" idx="2"/>
            </p:cNvCxnSpPr>
            <p:nvPr/>
          </p:nvCxnSpPr>
          <p:spPr>
            <a:xfrm>
              <a:off x="12015228" y="2222049"/>
              <a:ext cx="1469100" cy="13800"/>
            </a:xfrm>
            <a:prstGeom prst="straightConnector1">
              <a:avLst/>
            </a:prstGeom>
            <a:noFill/>
            <a:ln w="20300" cap="flat" cmpd="sng">
              <a:solidFill>
                <a:srgbClr val="AFC0C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76" name="Google Shape;176;p7"/>
          <p:cNvGrpSpPr/>
          <p:nvPr/>
        </p:nvGrpSpPr>
        <p:grpSpPr>
          <a:xfrm>
            <a:off x="566928" y="4313687"/>
            <a:ext cx="4598100" cy="914400"/>
            <a:chOff x="9272028" y="1764849"/>
            <a:chExt cx="4598100" cy="914400"/>
          </a:xfrm>
        </p:grpSpPr>
        <p:sp>
          <p:nvSpPr>
            <p:cNvPr id="177" name="Google Shape;177;p7"/>
            <p:cNvSpPr/>
            <p:nvPr/>
          </p:nvSpPr>
          <p:spPr>
            <a:xfrm>
              <a:off x="9272028" y="1764849"/>
              <a:ext cx="2743200" cy="914400"/>
            </a:xfrm>
            <a:prstGeom prst="roundRect">
              <a:avLst>
                <a:gd name="adj" fmla="val 7955"/>
              </a:avLst>
            </a:prstGeom>
            <a:solidFill>
              <a:srgbClr val="FFFFFF"/>
            </a:solidFill>
            <a:ln w="12700" cap="flat" cmpd="sng">
              <a:solidFill>
                <a:srgbClr val="D8E0E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700" dist="50800" dir="2700000" algn="bl" rotWithShape="0">
                <a:srgbClr val="CBD5E1">
                  <a:alpha val="1412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9381744" y="2020824"/>
              <a:ext cx="457200" cy="457200"/>
            </a:xfrm>
            <a:prstGeom prst="ellipse">
              <a:avLst/>
            </a:prstGeom>
            <a:solidFill>
              <a:srgbClr val="E6A23C"/>
            </a:solidFill>
            <a:ln w="12700" cap="flat" cmpd="sng">
              <a:solidFill>
                <a:srgbClr val="E6A23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9381744" y="2093900"/>
              <a:ext cx="457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9939528" y="2020824"/>
              <a:ext cx="18288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2A43"/>
                </a:buClr>
                <a:buSzPts val="1050"/>
                <a:buFont typeface="Arial"/>
                <a:buNone/>
              </a:pPr>
              <a:r>
                <a:rPr lang="en-US" sz="2400" b="1">
                  <a:solidFill>
                    <a:srgbClr val="0D2A43"/>
                  </a:solidFill>
                </a:rPr>
                <a:t>SCHEDULE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9985400" y="2325407"/>
              <a:ext cx="18288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D6B7A"/>
                </a:buClr>
                <a:buSzPts val="880"/>
                <a:buFont typeface="Arial"/>
                <a:buNone/>
              </a:pPr>
              <a:r>
                <a:rPr lang="en-US">
                  <a:solidFill>
                    <a:srgbClr val="5D6B7A"/>
                  </a:solidFill>
                </a:rPr>
                <a:t>Time slot</a:t>
              </a:r>
              <a:endParaRPr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2" name="Google Shape;182;p7"/>
            <p:cNvCxnSpPr>
              <a:stCxn id="177" idx="3"/>
              <a:endCxn id="137" idx="3"/>
            </p:cNvCxnSpPr>
            <p:nvPr/>
          </p:nvCxnSpPr>
          <p:spPr>
            <a:xfrm rot="10800000" flipH="1">
              <a:off x="12015228" y="1811349"/>
              <a:ext cx="1854900" cy="410700"/>
            </a:xfrm>
            <a:prstGeom prst="straightConnector1">
              <a:avLst/>
            </a:prstGeom>
            <a:noFill/>
            <a:ln w="20300" cap="flat" cmpd="sng">
              <a:solidFill>
                <a:srgbClr val="AFC0CE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246998A-BF31-AEEE-0E1D-9EA7B627B8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683"/>
          <a:stretch>
            <a:fillRect/>
          </a:stretch>
        </p:blipFill>
        <p:spPr>
          <a:xfrm>
            <a:off x="11375064" y="171380"/>
            <a:ext cx="590605" cy="7545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/>
          <p:nvPr/>
        </p:nvSpPr>
        <p:spPr>
          <a:xfrm>
            <a:off x="566928" y="34747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950"/>
              <a:buFont typeface="Arial"/>
              <a:buNone/>
            </a:pPr>
            <a:r>
              <a:rPr lang="en-US" sz="950" b="1" i="0" u="none" strike="noStrike" cap="none" dirty="0">
                <a:solidFill>
                  <a:srgbClr val="E1652B"/>
                </a:solidFill>
                <a:latin typeface="Arial"/>
                <a:ea typeface="Arial"/>
                <a:cs typeface="Arial"/>
                <a:sym typeface="Arial"/>
              </a:rPr>
              <a:t>04  |  VALUE PROPOSITION</a:t>
            </a:r>
            <a:endParaRPr sz="950" b="0" i="0" u="none" strike="noStrike" cap="none" dirty="0">
              <a:solidFill>
                <a:srgbClr val="E165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66928" y="658368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2600"/>
              <a:buFont typeface="Play"/>
              <a:buNone/>
            </a:pPr>
            <a:r>
              <a:rPr lang="en-US" sz="2800" b="1" i="0" u="none" strike="noStrike" cap="none">
                <a:solidFill>
                  <a:srgbClr val="0D2A43"/>
                </a:solidFill>
                <a:latin typeface="Play"/>
                <a:ea typeface="Play"/>
                <a:cs typeface="Play"/>
                <a:sym typeface="Play"/>
              </a:rPr>
              <a:t>Value is created on both sides of the supply chain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85216" y="1197864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200"/>
              <a:buFont typeface="Arial"/>
              <a:buNone/>
            </a:pPr>
            <a:r>
              <a:rPr lang="en-US" sz="24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Contractors gain control; suppliers gain a clearer digital performance record.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66928" y="1783080"/>
            <a:ext cx="5413200" cy="429780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804675" y="2029975"/>
            <a:ext cx="4138200" cy="384000"/>
          </a:xfrm>
          <a:prstGeom prst="roundRect">
            <a:avLst>
              <a:gd name="adj" fmla="val 26471"/>
            </a:avLst>
          </a:prstGeom>
          <a:solidFill>
            <a:srgbClr val="0D2A43"/>
          </a:solidFill>
          <a:ln w="12700" cap="flat" cmpd="sng">
            <a:solidFill>
              <a:srgbClr val="0D2A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</a:rPr>
              <a:t>FOR GENERAL CONTRACTORS</a:t>
            </a:r>
            <a:endParaRPr sz="1800"/>
          </a:p>
        </p:txBody>
      </p:sp>
      <p:sp>
        <p:nvSpPr>
          <p:cNvPr id="193" name="Google Shape;193;p8"/>
          <p:cNvSpPr/>
          <p:nvPr/>
        </p:nvSpPr>
        <p:spPr>
          <a:xfrm>
            <a:off x="797551" y="2770547"/>
            <a:ext cx="457200" cy="457200"/>
          </a:xfrm>
          <a:prstGeom prst="ellipse">
            <a:avLst/>
          </a:prstGeom>
          <a:solidFill>
            <a:srgbClr val="2B6CB0"/>
          </a:solidFill>
          <a:ln w="12700" cap="flat" cmpd="sng">
            <a:solidFill>
              <a:srgbClr val="2B6C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-US" sz="2400" b="1" dirty="0">
                <a:solidFill>
                  <a:schemeClr val="lt1"/>
                </a:solidFill>
              </a:rPr>
              <a:t>1</a:t>
            </a:r>
            <a:endParaRPr sz="2400" dirty="0"/>
          </a:p>
        </p:txBody>
      </p:sp>
      <p:sp>
        <p:nvSpPr>
          <p:cNvPr id="194" name="Google Shape;194;p8"/>
          <p:cNvSpPr/>
          <p:nvPr/>
        </p:nvSpPr>
        <p:spPr>
          <a:xfrm>
            <a:off x="1335024" y="2878406"/>
            <a:ext cx="150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250"/>
              <a:buFont typeface="Arial"/>
              <a:buNone/>
            </a:pPr>
            <a:r>
              <a:rPr lang="en-US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Budget Control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816352" y="2743111"/>
            <a:ext cx="28163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30"/>
              <a:buFont typeface="Arial"/>
              <a:buNone/>
            </a:pPr>
            <a:r>
              <a:rPr lang="en-US" sz="123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One delivery record simplifies monthly valuation.</a:t>
            </a:r>
            <a:endParaRPr sz="12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797549" y="3620922"/>
            <a:ext cx="457200" cy="457200"/>
          </a:xfrm>
          <a:prstGeom prst="ellipse">
            <a:avLst/>
          </a:prstGeom>
          <a:solidFill>
            <a:srgbClr val="E6A23C"/>
          </a:solidFill>
          <a:ln w="12700" cap="flat" cmpd="sng">
            <a:solidFill>
              <a:srgbClr val="E6A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</a:rPr>
              <a:t>2</a:t>
            </a:r>
            <a:endParaRPr sz="2400"/>
          </a:p>
        </p:txBody>
      </p:sp>
      <p:sp>
        <p:nvSpPr>
          <p:cNvPr id="197" name="Google Shape;197;p8"/>
          <p:cNvSpPr/>
          <p:nvPr/>
        </p:nvSpPr>
        <p:spPr>
          <a:xfrm>
            <a:off x="1335024" y="3740266"/>
            <a:ext cx="150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250"/>
              <a:buFont typeface="Arial"/>
              <a:buNone/>
            </a:pPr>
            <a:r>
              <a:rPr lang="en-US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Schedule Optimization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816352" y="3593503"/>
            <a:ext cx="28163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30"/>
              <a:buFont typeface="Arial"/>
              <a:buNone/>
            </a:pPr>
            <a:r>
              <a:rPr lang="en-US" sz="123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JIT time slots + status tracking reduce waiting.</a:t>
            </a:r>
            <a:endParaRPr sz="12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797549" y="4471327"/>
            <a:ext cx="457200" cy="457200"/>
          </a:xfrm>
          <a:prstGeom prst="ellipse">
            <a:avLst/>
          </a:prstGeom>
          <a:solidFill>
            <a:srgbClr val="3FA37C"/>
          </a:solidFill>
          <a:ln w="12700" cap="flat" cmpd="sng">
            <a:solidFill>
              <a:srgbClr val="3FA3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</a:rPr>
              <a:t>3</a:t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335024" y="4590645"/>
            <a:ext cx="150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250"/>
              <a:buFont typeface="Arial"/>
              <a:buNone/>
            </a:pPr>
            <a:r>
              <a:rPr lang="en-US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Quality &amp; ESG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816352" y="4443895"/>
            <a:ext cx="28163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30"/>
              <a:buFont typeface="Arial"/>
              <a:buNone/>
            </a:pPr>
            <a:r>
              <a:rPr lang="en-US" sz="123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Digital quality files make compliance easier to manage.</a:t>
            </a:r>
            <a:endParaRPr sz="12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797549" y="5187944"/>
            <a:ext cx="457200" cy="457200"/>
          </a:xfrm>
          <a:prstGeom prst="ellipse">
            <a:avLst/>
          </a:prstGeom>
          <a:solidFill>
            <a:srgbClr val="7C67B7"/>
          </a:solidFill>
          <a:ln w="12700" cap="flat" cmpd="sng">
            <a:solidFill>
              <a:srgbClr val="7C6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</a:rPr>
              <a:t>4</a:t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1335024" y="5303431"/>
            <a:ext cx="150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250"/>
              <a:buFont typeface="Arial"/>
              <a:buNone/>
            </a:pPr>
            <a:r>
              <a:rPr lang="en-US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Supplier Vetting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2816352" y="5294287"/>
            <a:ext cx="28163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30"/>
              <a:buFont typeface="Arial"/>
              <a:buNone/>
            </a:pPr>
            <a:r>
              <a:rPr lang="en-US" sz="123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Post-completion ratings support preferred-supplier lists.</a:t>
            </a:r>
            <a:endParaRPr sz="12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236208" y="1783080"/>
            <a:ext cx="5376672" cy="4297680"/>
          </a:xfrm>
          <a:prstGeom prst="roundRect">
            <a:avLst>
              <a:gd name="adj" fmla="val 1489"/>
            </a:avLst>
          </a:prstGeom>
          <a:solidFill>
            <a:srgbClr val="0D2A43"/>
          </a:solidFill>
          <a:ln w="12700" cap="flat" cmpd="sng">
            <a:solidFill>
              <a:srgbClr val="0D2A43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6473950" y="2029975"/>
            <a:ext cx="3423000" cy="310800"/>
          </a:xfrm>
          <a:prstGeom prst="roundRect">
            <a:avLst>
              <a:gd name="adj" fmla="val 26471"/>
            </a:avLst>
          </a:prstGeom>
          <a:solidFill>
            <a:srgbClr val="2B6CB0"/>
          </a:solidFill>
          <a:ln w="12700" cap="flat" cmpd="sng">
            <a:solidFill>
              <a:srgbClr val="2B6C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</a:rPr>
              <a:t>FOR MATERIAL SUPPLIERS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492240" y="2583453"/>
            <a:ext cx="5039958" cy="310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</a:rPr>
              <a:t>01  Streamlined Delivery &amp; Compliance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492240" y="3159376"/>
            <a:ext cx="451713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8F2"/>
              </a:buClr>
              <a:buSzPts val="1140"/>
              <a:buFont typeface="Arial"/>
              <a:buNone/>
            </a:pPr>
            <a:r>
              <a:rPr lang="en-US" sz="1640" b="0" i="0" u="none" strike="noStrike" cap="none" dirty="0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Update delivery status and upload required quality documents directly to the delivery record. Digital valuation payment requests follow in Phase 2.</a:t>
            </a:r>
            <a:endParaRPr sz="164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8"/>
          <p:cNvCxnSpPr/>
          <p:nvPr/>
        </p:nvCxnSpPr>
        <p:spPr>
          <a:xfrm>
            <a:off x="6473950" y="4101162"/>
            <a:ext cx="4315968" cy="0"/>
          </a:xfrm>
          <a:prstGeom prst="straightConnector1">
            <a:avLst/>
          </a:prstGeom>
          <a:noFill/>
          <a:ln w="12700" cap="flat" cmpd="sng">
            <a:solidFill>
              <a:srgbClr val="4967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6" name="Google Shape;216;p8"/>
          <p:cNvSpPr/>
          <p:nvPr/>
        </p:nvSpPr>
        <p:spPr>
          <a:xfrm>
            <a:off x="6492240" y="4233672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  Build Digital Credit Assets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492240" y="4645152"/>
            <a:ext cx="451713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8F2"/>
              </a:buClr>
              <a:buSzPts val="1140"/>
              <a:buFont typeface="Arial"/>
              <a:buNone/>
            </a:pPr>
            <a:r>
              <a:rPr lang="en-US" sz="1640" b="0" i="0" u="none" strike="noStrike" cap="none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On-time delivery and complete quality records can create a visible performance history for future contracts.</a:t>
            </a:r>
            <a:endParaRPr sz="16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492256" y="5458975"/>
            <a:ext cx="4316100" cy="310800"/>
          </a:xfrm>
          <a:prstGeom prst="roundRect">
            <a:avLst>
              <a:gd name="adj" fmla="val 26471"/>
            </a:avLst>
          </a:prstGeom>
          <a:solidFill>
            <a:srgbClr val="3FA37C"/>
          </a:solidFill>
          <a:ln w="12700" cap="flat" cmpd="sng">
            <a:solidFill>
              <a:srgbClr val="3FA3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</a:rPr>
              <a:t>PERFORMANCE → DIGITAL ASSET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9" name="Google Shape;219;p8"/>
          <p:cNvSpPr txBox="1">
            <a:spLocks noGrp="1"/>
          </p:cNvSpPr>
          <p:nvPr>
            <p:ph type="sldNum" idx="4294967295"/>
          </p:nvPr>
        </p:nvSpPr>
        <p:spPr>
          <a:xfrm>
            <a:off x="11356848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800" b="0" i="0" u="none" strike="noStrike" cap="non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DDC535-95A3-036C-9C1C-3E06A890C7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683"/>
          <a:stretch>
            <a:fillRect/>
          </a:stretch>
        </p:blipFill>
        <p:spPr>
          <a:xfrm>
            <a:off x="11375064" y="171380"/>
            <a:ext cx="590605" cy="7545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566928" y="34747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950"/>
              <a:buFont typeface="Arial"/>
              <a:buNone/>
            </a:pPr>
            <a:r>
              <a:rPr lang="en-US" sz="950" b="1" i="0" u="none" strike="noStrike" cap="none" dirty="0">
                <a:solidFill>
                  <a:srgbClr val="E1652B"/>
                </a:solidFill>
                <a:latin typeface="Arial"/>
                <a:ea typeface="Arial"/>
                <a:cs typeface="Arial"/>
                <a:sym typeface="Arial"/>
              </a:rPr>
              <a:t>05  |  BUSINESS MODEL</a:t>
            </a:r>
            <a:endParaRPr sz="950" b="0" i="0" u="none" strike="noStrike" cap="none" dirty="0">
              <a:solidFill>
                <a:srgbClr val="E165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66928" y="658368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2600"/>
              <a:buFont typeface="Play"/>
              <a:buNone/>
            </a:pPr>
            <a:r>
              <a:rPr lang="en-US" sz="2800" b="1" i="0" u="none" strike="noStrike" cap="none">
                <a:solidFill>
                  <a:srgbClr val="0D2A43"/>
                </a:solidFill>
                <a:latin typeface="Play"/>
                <a:ea typeface="Play"/>
                <a:cs typeface="Play"/>
                <a:sym typeface="Play"/>
              </a:rPr>
              <a:t>Zero transaction fees. Two revenue streams.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85216" y="1197864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2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The model is designed to avoid inflating material procurement costs.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800600" y="1965960"/>
            <a:ext cx="2606040" cy="2606040"/>
          </a:xfrm>
          <a:prstGeom prst="ellipse">
            <a:avLst/>
          </a:prstGeom>
          <a:solidFill>
            <a:srgbClr val="0D2A43"/>
          </a:solidFill>
          <a:ln w="12700" cap="flat" cmpd="sng">
            <a:solidFill>
              <a:srgbClr val="0D2A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5056688" y="2615167"/>
            <a:ext cx="21030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0%</a:t>
            </a:r>
            <a:endParaRPr sz="6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259729" y="3441393"/>
            <a:ext cx="1755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FD6E7"/>
              </a:buClr>
              <a:buSzPts val="1200"/>
              <a:buFont typeface="Arial"/>
              <a:buNone/>
            </a:pPr>
            <a:r>
              <a:rPr lang="en-US" sz="1800" b="1" i="0" u="none" strike="noStrike" cap="none">
                <a:solidFill>
                  <a:srgbClr val="BFD6E7"/>
                </a:solidFill>
                <a:latin typeface="Arial"/>
                <a:ea typeface="Arial"/>
                <a:cs typeface="Arial"/>
                <a:sym typeface="Arial"/>
              </a:rPr>
              <a:t>TRANSACTION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FD6E7"/>
              </a:buClr>
              <a:buSzPts val="1200"/>
              <a:buFont typeface="Arial"/>
              <a:buNone/>
            </a:pPr>
            <a:r>
              <a:rPr lang="en-US" sz="1800" b="1" i="0" u="none" strike="noStrike" cap="none">
                <a:solidFill>
                  <a:srgbClr val="BFD6E7"/>
                </a:solidFill>
                <a:latin typeface="Arial"/>
                <a:ea typeface="Arial"/>
                <a:cs typeface="Arial"/>
                <a:sym typeface="Arial"/>
              </a:rPr>
              <a:t>FEES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58368" y="1810512"/>
            <a:ext cx="3520440" cy="4160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932699" y="2075700"/>
            <a:ext cx="2862000" cy="310800"/>
          </a:xfrm>
          <a:prstGeom prst="roundRect">
            <a:avLst>
              <a:gd name="adj" fmla="val 26471"/>
            </a:avLst>
          </a:prstGeom>
          <a:solidFill>
            <a:srgbClr val="2B6CB0"/>
          </a:solidFill>
          <a:ln w="12700" cap="flat" cmpd="sng">
            <a:solidFill>
              <a:srgbClr val="2B6C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</a:rPr>
              <a:t>REVENUE STREAM 01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932700" y="2386500"/>
            <a:ext cx="3035400" cy="1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800"/>
              <a:buFont typeface="Arial"/>
              <a:buNone/>
            </a:pPr>
            <a:r>
              <a:rPr lang="en-US" sz="24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SaaS Subscription Tiers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777225" y="3397800"/>
            <a:ext cx="3108900" cy="22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31470" algn="l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20"/>
              <a:buFont typeface="Arial"/>
              <a:buChar char="●"/>
            </a:pPr>
            <a:r>
              <a:rPr lang="en-US" sz="1620" b="0" i="0" u="none" strike="noStrike" cap="none">
                <a:solidFill>
                  <a:srgbClr val="1A2430"/>
                </a:solidFill>
                <a:latin typeface="Arial"/>
                <a:ea typeface="Arial"/>
                <a:cs typeface="Arial"/>
                <a:sym typeface="Arial"/>
              </a:rPr>
              <a:t>Free Tier — single project + limited supplier connections</a:t>
            </a:r>
            <a:endParaRPr sz="1620" b="0" i="0" u="none" strike="noStrike" cap="none">
              <a:solidFill>
                <a:srgbClr val="1A24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20"/>
              <a:buChar char="●"/>
            </a:pPr>
            <a:r>
              <a:rPr lang="en-US" sz="1620">
                <a:solidFill>
                  <a:srgbClr val="1A2430"/>
                </a:solidFill>
              </a:rPr>
              <a:t>Pro / Enterprise — multi-project &amp; multi-office</a:t>
            </a:r>
            <a:endParaRPr sz="1620">
              <a:solidFill>
                <a:srgbClr val="1A2430"/>
              </a:solidFill>
            </a:endParaRPr>
          </a:p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20"/>
              <a:buChar char="●"/>
            </a:pPr>
            <a:r>
              <a:rPr lang="en-US" sz="1620">
                <a:solidFill>
                  <a:srgbClr val="1A2430"/>
                </a:solidFill>
              </a:rPr>
              <a:t>Advanced analytics, unlimited supplier connections, ESG carbon footprint tracking</a:t>
            </a:r>
            <a:endParaRPr sz="1620">
              <a:solidFill>
                <a:srgbClr val="1A2430"/>
              </a:solidFill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8028432" y="1810512"/>
            <a:ext cx="3492900" cy="4160400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8302748" y="2075700"/>
            <a:ext cx="2862000" cy="310800"/>
          </a:xfrm>
          <a:prstGeom prst="roundRect">
            <a:avLst>
              <a:gd name="adj" fmla="val 26471"/>
            </a:avLst>
          </a:prstGeom>
          <a:solidFill>
            <a:srgbClr val="3FA37C"/>
          </a:solidFill>
          <a:ln w="12700" cap="flat" cmpd="sng">
            <a:solidFill>
              <a:srgbClr val="3FA3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</a:rPr>
              <a:t>REVENUE STREAM 02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8302750" y="2386502"/>
            <a:ext cx="27432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800"/>
              <a:buFont typeface="Arial"/>
              <a:buNone/>
            </a:pPr>
            <a:r>
              <a:rPr lang="en-US" sz="24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Featured Supplier Listing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9"/>
          <p:cNvCxnSpPr/>
          <p:nvPr/>
        </p:nvCxnSpPr>
        <p:spPr>
          <a:xfrm>
            <a:off x="4187952" y="3246120"/>
            <a:ext cx="621792" cy="0"/>
          </a:xfrm>
          <a:prstGeom prst="straightConnector1">
            <a:avLst/>
          </a:prstGeom>
          <a:noFill/>
          <a:ln w="25400" cap="flat" cmpd="sng">
            <a:solidFill>
              <a:srgbClr val="93A6B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9" name="Google Shape;239;p9"/>
          <p:cNvCxnSpPr/>
          <p:nvPr/>
        </p:nvCxnSpPr>
        <p:spPr>
          <a:xfrm>
            <a:off x="7406640" y="3246120"/>
            <a:ext cx="621792" cy="0"/>
          </a:xfrm>
          <a:prstGeom prst="straightConnector1">
            <a:avLst/>
          </a:prstGeom>
          <a:noFill/>
          <a:ln w="25400" cap="flat" cmpd="sng">
            <a:solidFill>
              <a:srgbClr val="93A6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0" name="Google Shape;240;p9"/>
          <p:cNvSpPr txBox="1">
            <a:spLocks noGrp="1"/>
          </p:cNvSpPr>
          <p:nvPr>
            <p:ph type="sldNum" idx="4294967295"/>
          </p:nvPr>
        </p:nvSpPr>
        <p:spPr>
          <a:xfrm>
            <a:off x="11356848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800" b="0" i="0" u="none" strike="noStrike" cap="non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8239138" y="3300900"/>
            <a:ext cx="3108900" cy="22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31470" algn="l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20"/>
              <a:buFont typeface="Arial"/>
              <a:buChar char="●"/>
            </a:pPr>
            <a:r>
              <a:rPr lang="en-US" sz="1620">
                <a:solidFill>
                  <a:srgbClr val="1A2430"/>
                </a:solidFill>
              </a:rPr>
              <a:t>Qualified suppliers can pay for priority placement</a:t>
            </a:r>
            <a:endParaRPr sz="1620">
              <a:solidFill>
                <a:srgbClr val="1A2430"/>
              </a:solidFill>
            </a:endParaRPr>
          </a:p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20"/>
              <a:buChar char="●"/>
            </a:pPr>
            <a:r>
              <a:rPr lang="en-US" sz="1620">
                <a:solidFill>
                  <a:srgbClr val="1A2430"/>
                </a:solidFill>
              </a:rPr>
              <a:t>Sponsored placement is clearly marked</a:t>
            </a:r>
            <a:endParaRPr sz="1620">
              <a:solidFill>
                <a:srgbClr val="1A2430"/>
              </a:solidFill>
            </a:endParaRPr>
          </a:p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20"/>
              <a:buChar char="●"/>
            </a:pPr>
            <a:r>
              <a:rPr lang="en-US" sz="1620">
                <a:solidFill>
                  <a:srgbClr val="1A2430"/>
                </a:solidFill>
              </a:rPr>
              <a:t>Sponsored placement does not change performance ratings</a:t>
            </a:r>
            <a:endParaRPr sz="1620">
              <a:solidFill>
                <a:srgbClr val="1A2430"/>
              </a:solidFill>
            </a:endParaRPr>
          </a:p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20"/>
              <a:buChar char="●"/>
            </a:pPr>
            <a:r>
              <a:rPr lang="en-US" sz="1620">
                <a:solidFill>
                  <a:srgbClr val="1A2430"/>
                </a:solidFill>
              </a:rPr>
              <a:t>Introduced in Phase 2, not part of the MVP</a:t>
            </a:r>
            <a:endParaRPr sz="1620">
              <a:solidFill>
                <a:srgbClr val="1A243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12E259-0CE5-709E-B0A9-E3B84D4EA8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683"/>
          <a:stretch>
            <a:fillRect/>
          </a:stretch>
        </p:blipFill>
        <p:spPr>
          <a:xfrm>
            <a:off x="11375064" y="171380"/>
            <a:ext cx="590605" cy="7545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/>
          <p:cNvSpPr/>
          <p:nvPr/>
        </p:nvSpPr>
        <p:spPr>
          <a:xfrm>
            <a:off x="566928" y="34747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950"/>
              <a:buFont typeface="Arial"/>
              <a:buNone/>
            </a:pPr>
            <a:r>
              <a:rPr lang="en-US" sz="950" b="1" i="0" u="none" strike="noStrike" cap="none" dirty="0">
                <a:solidFill>
                  <a:srgbClr val="E1652B"/>
                </a:solidFill>
                <a:latin typeface="Arial"/>
                <a:ea typeface="Arial"/>
                <a:cs typeface="Arial"/>
                <a:sym typeface="Arial"/>
              </a:rPr>
              <a:t>06  |  COMPETITIVE EDGE</a:t>
            </a:r>
            <a:endParaRPr sz="950" b="0" i="0" u="none" strike="noStrike" cap="none" dirty="0">
              <a:solidFill>
                <a:srgbClr val="E165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66925" y="658375"/>
            <a:ext cx="11027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2600"/>
              <a:buFont typeface="Play"/>
              <a:buNone/>
            </a:pPr>
            <a:r>
              <a:rPr lang="en-US" sz="2800" b="1" i="0" u="none" strike="noStrike" cap="none">
                <a:solidFill>
                  <a:srgbClr val="0D2A43"/>
                </a:solidFill>
                <a:latin typeface="Play"/>
                <a:ea typeface="Play"/>
                <a:cs typeface="Play"/>
                <a:sym typeface="Play"/>
              </a:rPr>
              <a:t>Focused scope + Taiwan-specific engineering logic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85216" y="1197864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200"/>
              <a:buFont typeface="Arial"/>
              <a:buNone/>
            </a:pPr>
            <a:r>
              <a:rPr lang="en-US" sz="24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SiteProof complements legacy ERP instead of trying to replace it.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621792" y="1810512"/>
            <a:ext cx="5440680" cy="4251960"/>
          </a:xfrm>
          <a:prstGeom prst="roundRect">
            <a:avLst>
              <a:gd name="adj" fmla="val 1505"/>
            </a:avLst>
          </a:prstGeom>
          <a:solidFill>
            <a:srgbClr val="0D2A43"/>
          </a:solidFill>
          <a:ln w="12700" cap="flat" cmpd="sng">
            <a:solidFill>
              <a:srgbClr val="0D2A43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914400" y="2157984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D0FF"/>
              </a:buClr>
              <a:buSzPts val="1100"/>
              <a:buFont typeface="Arial"/>
              <a:buNone/>
            </a:pPr>
            <a:r>
              <a:rPr lang="en-US" sz="1800" b="1" i="0" u="none" strike="noStrike" cap="none">
                <a:solidFill>
                  <a:srgbClr val="8DD0FF"/>
                </a:solidFill>
                <a:latin typeface="Arial"/>
                <a:ea typeface="Arial"/>
                <a:cs typeface="Arial"/>
                <a:sym typeface="Arial"/>
              </a:rPr>
              <a:t>LIGHTWEIGHT &amp; COMPLEMENTARY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914400" y="2596896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Play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Not another full ERP.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914400" y="3163825"/>
            <a:ext cx="48999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CF4"/>
              </a:buClr>
              <a:buSzPts val="1300"/>
              <a:buFont typeface="Arial"/>
              <a:buNone/>
            </a:pPr>
            <a:r>
              <a:rPr lang="en-US" sz="1600" b="0" i="0" u="none" strike="noStrike" cap="none">
                <a:solidFill>
                  <a:srgbClr val="E2ECF4"/>
                </a:solidFill>
                <a:latin typeface="Arial"/>
                <a:ea typeface="Arial"/>
                <a:cs typeface="Arial"/>
                <a:sym typeface="Arial"/>
              </a:rPr>
              <a:t>SiteProof focuses specifically on the “Material Procurement &amp; On-Site Ingress Closed Loop,” designed for deployment within weeks (to be confirmed in the pilot) without a full ERP replacement.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10"/>
          <p:cNvCxnSpPr/>
          <p:nvPr/>
        </p:nvCxnSpPr>
        <p:spPr>
          <a:xfrm>
            <a:off x="914400" y="4443984"/>
            <a:ext cx="4297680" cy="0"/>
          </a:xfrm>
          <a:prstGeom prst="straightConnector1">
            <a:avLst/>
          </a:prstGeom>
          <a:noFill/>
          <a:ln w="12700" cap="flat" cmpd="sng">
            <a:solidFill>
              <a:srgbClr val="4967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10"/>
          <p:cNvSpPr/>
          <p:nvPr/>
        </p:nvSpPr>
        <p:spPr>
          <a:xfrm>
            <a:off x="914400" y="4690875"/>
            <a:ext cx="4693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Complement existing systems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914400" y="5056625"/>
            <a:ext cx="47967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6E7"/>
              </a:buClr>
              <a:buSzPts val="1150"/>
              <a:buFont typeface="Arial"/>
              <a:buNone/>
            </a:pPr>
            <a:r>
              <a:rPr lang="en-US" sz="1600" b="0" i="0" u="none" strike="noStrike" cap="none">
                <a:solidFill>
                  <a:srgbClr val="BFD6E7"/>
                </a:solidFill>
                <a:latin typeface="Arial"/>
                <a:ea typeface="Arial"/>
                <a:cs typeface="Arial"/>
                <a:sym typeface="Arial"/>
              </a:rPr>
              <a:t>Coexists with ERP, LINE and phone • LINE alerts in Phase 2 • ERP link in Phase 3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389625" y="1810500"/>
            <a:ext cx="5526000" cy="425190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6583672" y="2084825"/>
            <a:ext cx="3783600" cy="310800"/>
          </a:xfrm>
          <a:prstGeom prst="roundRect">
            <a:avLst>
              <a:gd name="adj" fmla="val 26471"/>
            </a:avLst>
          </a:prstGeom>
          <a:solidFill>
            <a:srgbClr val="3FA37C"/>
          </a:solidFill>
          <a:ln w="12700" cap="flat" cmpd="sng">
            <a:solidFill>
              <a:srgbClr val="3FA3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1600" b="1">
                <a:solidFill>
                  <a:schemeClr val="lt1"/>
                </a:solidFill>
              </a:rPr>
              <a:t>LOCALIZED ENGINEERING LOGIC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583680" y="2615184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800"/>
              <a:buFont typeface="Arial"/>
              <a:buNone/>
            </a:pPr>
            <a:r>
              <a:rPr lang="en-US" sz="20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Built around Taiwan construction practices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583680" y="3310128"/>
            <a:ext cx="347472" cy="347472"/>
          </a:xfrm>
          <a:prstGeom prst="ellipse">
            <a:avLst/>
          </a:prstGeom>
          <a:solidFill>
            <a:srgbClr val="2B6CB0"/>
          </a:solidFill>
          <a:ln w="12700" cap="flat" cmpd="sng">
            <a:solidFill>
              <a:srgbClr val="2B6C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-US" sz="1500" b="1">
                <a:solidFill>
                  <a:schemeClr val="lt1"/>
                </a:solidFill>
              </a:rPr>
              <a:t>✓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7150600" y="3381250"/>
            <a:ext cx="20241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Ready-mix concrete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9172808" y="3358325"/>
            <a:ext cx="27429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100"/>
              <a:buFont typeface="Arial"/>
              <a:buNone/>
            </a:pPr>
            <a:r>
              <a:rPr lang="en-US" sz="16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delivery certificates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583680" y="4114800"/>
            <a:ext cx="347472" cy="347472"/>
          </a:xfrm>
          <a:prstGeom prst="ellipse">
            <a:avLst/>
          </a:prstGeom>
          <a:solidFill>
            <a:srgbClr val="7C67B7"/>
          </a:solidFill>
          <a:ln w="12700" cap="flat" cmpd="sng">
            <a:solidFill>
              <a:srgbClr val="7C6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-US" sz="1500" b="1">
                <a:solidFill>
                  <a:schemeClr val="lt1"/>
                </a:solidFill>
              </a:rPr>
              <a:t>✓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7150599" y="4174453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Concrete testing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9172808" y="4163002"/>
            <a:ext cx="27429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100"/>
              <a:buFont typeface="Arial"/>
              <a:buNone/>
            </a:pPr>
            <a:r>
              <a:rPr lang="en-US" sz="16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28-day test reports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583680" y="4919472"/>
            <a:ext cx="347472" cy="347472"/>
          </a:xfrm>
          <a:prstGeom prst="ellipse">
            <a:avLst/>
          </a:prstGeom>
          <a:solidFill>
            <a:srgbClr val="D96A6A"/>
          </a:solidFill>
          <a:ln w="12700" cap="flat" cmpd="sng">
            <a:solidFill>
              <a:srgbClr val="D96A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-US" sz="1500" b="1">
                <a:solidFill>
                  <a:schemeClr val="lt1"/>
                </a:solidFill>
              </a:rPr>
              <a:t>✓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7150599" y="4979125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200"/>
              <a:buFont typeface="Arial"/>
              <a:buNone/>
            </a:pPr>
            <a:r>
              <a:rPr lang="en-US" sz="16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Payment control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9172808" y="4933275"/>
            <a:ext cx="27429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100"/>
              <a:buFont typeface="Arial"/>
              <a:buNone/>
            </a:pPr>
            <a:r>
              <a:rPr lang="en-US" sz="16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retention set per contract (e.g., 3%–10%)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583672" y="5513825"/>
            <a:ext cx="3783600" cy="310800"/>
          </a:xfrm>
          <a:prstGeom prst="roundRect">
            <a:avLst>
              <a:gd name="adj" fmla="val 26471"/>
            </a:avLst>
          </a:prstGeom>
          <a:solidFill>
            <a:srgbClr val="193B5A"/>
          </a:solidFill>
          <a:ln w="12700" cap="flat" cmpd="sng">
            <a:solidFill>
              <a:srgbClr val="193B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1600" b="1">
                <a:solidFill>
                  <a:schemeClr val="lt1"/>
                </a:solidFill>
              </a:rPr>
              <a:t>TAIWAN-SPECIFIC WORKFLOW FIT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70" name="Google Shape;270;p10"/>
          <p:cNvSpPr txBox="1">
            <a:spLocks noGrp="1"/>
          </p:cNvSpPr>
          <p:nvPr>
            <p:ph type="sldNum" idx="4294967295"/>
          </p:nvPr>
        </p:nvSpPr>
        <p:spPr>
          <a:xfrm>
            <a:off x="11356848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800" b="0" i="0" u="none" strike="noStrike" cap="non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508CFD-11D1-5B86-5511-ED55CE1B41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683"/>
          <a:stretch>
            <a:fillRect/>
          </a:stretch>
        </p:blipFill>
        <p:spPr>
          <a:xfrm>
            <a:off x="11375064" y="171380"/>
            <a:ext cx="590605" cy="754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"/>
          <p:cNvSpPr/>
          <p:nvPr/>
        </p:nvSpPr>
        <p:spPr>
          <a:xfrm>
            <a:off x="566928" y="34747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950"/>
              <a:buFont typeface="Arial"/>
              <a:buNone/>
            </a:pPr>
            <a:r>
              <a:rPr lang="en-US" sz="950" b="1" i="0" u="none" strike="noStrike" cap="none" dirty="0">
                <a:solidFill>
                  <a:srgbClr val="E1652B"/>
                </a:solidFill>
                <a:latin typeface="Arial"/>
                <a:ea typeface="Arial"/>
                <a:cs typeface="Arial"/>
                <a:sym typeface="Arial"/>
              </a:rPr>
              <a:t>07  |  STRATEGY</a:t>
            </a:r>
            <a:endParaRPr sz="950" b="0" i="0" u="none" strike="noStrike" cap="none" dirty="0">
              <a:solidFill>
                <a:srgbClr val="E165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566928" y="658368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2600"/>
              <a:buFont typeface="Play"/>
              <a:buNone/>
            </a:pPr>
            <a:r>
              <a:rPr lang="en-US" sz="2800" b="1" i="0" u="none" strike="noStrike" cap="none">
                <a:solidFill>
                  <a:srgbClr val="0D2A43"/>
                </a:solidFill>
                <a:latin typeface="Play"/>
                <a:ea typeface="Play"/>
                <a:cs typeface="Play"/>
                <a:sym typeface="Play"/>
              </a:rPr>
              <a:t>Start with the ecosystem, then expand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585216" y="1197864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200"/>
              <a:buFont typeface="Arial"/>
              <a:buNone/>
            </a:pPr>
            <a:r>
              <a:rPr lang="en-US" sz="24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The first challenge is building both sides of the platform.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621792" y="1755648"/>
            <a:ext cx="109728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877825" y="1856250"/>
            <a:ext cx="5142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000"/>
              <a:buFont typeface="Arial"/>
              <a:buNone/>
            </a:pPr>
            <a:r>
              <a:rPr lang="en-US" sz="2400" b="1" i="0" u="none" strike="noStrike" cap="non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CUSTOMER ACQUISITION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877824" y="2359152"/>
            <a:ext cx="10012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500"/>
              <a:buFont typeface="Arial"/>
              <a:buNone/>
            </a:pPr>
            <a:r>
              <a:rPr lang="en-US" sz="20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Pilot with 1–2 mid-to-large GCs → register their Qualified Supplier Lists → onboard suppliers → expand to small and mid-sized GCs.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640080" y="3273552"/>
            <a:ext cx="5230368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841248" y="3502152"/>
            <a:ext cx="576000" cy="576000"/>
          </a:xfrm>
          <a:prstGeom prst="ellipse">
            <a:avLst/>
          </a:prstGeom>
          <a:solidFill>
            <a:srgbClr val="2B6CB0"/>
          </a:solidFill>
          <a:ln w="12700" cap="flat" cmpd="sng">
            <a:solidFill>
              <a:srgbClr val="2B6C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</a:rPr>
              <a:t>S</a:t>
            </a:r>
            <a:endParaRPr sz="2400"/>
          </a:p>
        </p:txBody>
      </p:sp>
      <p:sp>
        <p:nvSpPr>
          <p:cNvPr id="284" name="Google Shape;284;p11"/>
          <p:cNvSpPr/>
          <p:nvPr/>
        </p:nvSpPr>
        <p:spPr>
          <a:xfrm>
            <a:off x="1513103" y="3649221"/>
            <a:ext cx="1463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350"/>
              <a:buFont typeface="Arial"/>
              <a:buNone/>
            </a:pPr>
            <a:r>
              <a:rPr lang="en-US" sz="18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Strengths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3069899" y="3442800"/>
            <a:ext cx="26757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60"/>
              <a:buFont typeface="Arial"/>
              <a:buNone/>
            </a:pPr>
            <a:r>
              <a:rPr lang="en-US" sz="16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Taiwan-focused workflow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60"/>
              <a:buFont typeface="Arial"/>
              <a:buNone/>
            </a:pPr>
            <a:r>
              <a:rPr lang="en-US" sz="16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Closed-loop delivery record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60"/>
              <a:buFont typeface="Arial"/>
              <a:buNone/>
            </a:pPr>
            <a:r>
              <a:rPr lang="en-US" sz="16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Objective supplier ratings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126480" y="3273552"/>
            <a:ext cx="5230368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6327648" y="3502152"/>
            <a:ext cx="576072" cy="576072"/>
          </a:xfrm>
          <a:prstGeom prst="ellipse">
            <a:avLst/>
          </a:prstGeom>
          <a:solidFill>
            <a:srgbClr val="D96A6A"/>
          </a:solidFill>
          <a:ln w="12700" cap="flat" cmpd="sng">
            <a:solidFill>
              <a:srgbClr val="D96A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</a:rPr>
              <a:t>W</a:t>
            </a:r>
            <a:endParaRPr sz="2400"/>
          </a:p>
        </p:txBody>
      </p:sp>
      <p:sp>
        <p:nvSpPr>
          <p:cNvPr id="288" name="Google Shape;288;p11"/>
          <p:cNvSpPr/>
          <p:nvPr/>
        </p:nvSpPr>
        <p:spPr>
          <a:xfrm>
            <a:off x="7010971" y="3626284"/>
            <a:ext cx="1463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350"/>
              <a:buFont typeface="Arial"/>
              <a:buNone/>
            </a:pPr>
            <a:r>
              <a:rPr lang="en-US" sz="18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Weaknesses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8556299" y="3442800"/>
            <a:ext cx="26757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60"/>
              <a:buFont typeface="Arial"/>
              <a:buNone/>
            </a:pPr>
            <a:r>
              <a:rPr lang="en-US" sz="16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Cold-start problem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60"/>
              <a:buFont typeface="Arial"/>
              <a:buNone/>
            </a:pPr>
            <a:r>
              <a:rPr lang="en-US" sz="16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Limited ERP API integration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60"/>
              <a:buFont typeface="Arial"/>
              <a:buNone/>
            </a:pPr>
            <a:r>
              <a:rPr lang="en-US" sz="16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MVP-focused resources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640080" y="4718304"/>
            <a:ext cx="5230368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841248" y="4946904"/>
            <a:ext cx="576072" cy="576072"/>
          </a:xfrm>
          <a:prstGeom prst="ellipse">
            <a:avLst/>
          </a:prstGeom>
          <a:solidFill>
            <a:srgbClr val="3FA37C"/>
          </a:solidFill>
          <a:ln w="12700" cap="flat" cmpd="sng">
            <a:solidFill>
              <a:srgbClr val="3FA3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</a:rPr>
              <a:t>O</a:t>
            </a:r>
            <a:endParaRPr sz="2400"/>
          </a:p>
        </p:txBody>
      </p:sp>
      <p:sp>
        <p:nvSpPr>
          <p:cNvPr id="292" name="Google Shape;292;p11"/>
          <p:cNvSpPr/>
          <p:nvPr/>
        </p:nvSpPr>
        <p:spPr>
          <a:xfrm>
            <a:off x="1524558" y="5116900"/>
            <a:ext cx="1545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350"/>
              <a:buFont typeface="Arial"/>
              <a:buNone/>
            </a:pPr>
            <a:r>
              <a:rPr lang="en-US" sz="18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Opportunities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3069899" y="4887550"/>
            <a:ext cx="26757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60"/>
              <a:buFont typeface="Arial"/>
              <a:buNone/>
            </a:pPr>
            <a:r>
              <a:rPr lang="en-US" sz="16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Digital transformation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60"/>
              <a:buFont typeface="Arial"/>
              <a:buNone/>
            </a:pPr>
            <a:r>
              <a:rPr lang="en-US" sz="16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BIM / ESG demand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60"/>
              <a:buFont typeface="Arial"/>
              <a:buNone/>
            </a:pPr>
            <a:r>
              <a:rPr lang="en-US" sz="16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Material price volatility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6126480" y="4718304"/>
            <a:ext cx="5230368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6327648" y="4946904"/>
            <a:ext cx="576072" cy="576072"/>
          </a:xfrm>
          <a:prstGeom prst="ellipse">
            <a:avLst/>
          </a:prstGeom>
          <a:solidFill>
            <a:srgbClr val="E6A23C"/>
          </a:solidFill>
          <a:ln w="12700" cap="flat" cmpd="sng">
            <a:solidFill>
              <a:srgbClr val="E6A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</a:rPr>
              <a:t>T</a:t>
            </a:r>
            <a:endParaRPr sz="2400"/>
          </a:p>
        </p:txBody>
      </p:sp>
      <p:sp>
        <p:nvSpPr>
          <p:cNvPr id="296" name="Google Shape;296;p11"/>
          <p:cNvSpPr/>
          <p:nvPr/>
        </p:nvSpPr>
        <p:spPr>
          <a:xfrm>
            <a:off x="7010971" y="5105441"/>
            <a:ext cx="1463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350"/>
              <a:buFont typeface="Arial"/>
              <a:buNone/>
            </a:pPr>
            <a:r>
              <a:rPr lang="en-US" sz="18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Threats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8556299" y="4887550"/>
            <a:ext cx="26757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60"/>
              <a:buFont typeface="Arial"/>
              <a:buNone/>
            </a:pPr>
            <a:r>
              <a:rPr lang="en-US" sz="16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LINE / phone habits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60"/>
              <a:buFont typeface="Arial"/>
              <a:buNone/>
            </a:pPr>
            <a:r>
              <a:rPr lang="en-US" sz="16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Supplier resistance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60"/>
              <a:buFont typeface="Arial"/>
              <a:buNone/>
            </a:pPr>
            <a:r>
              <a:rPr lang="en-US" sz="16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Major ERP vendors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713232" y="6199632"/>
            <a:ext cx="10744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70"/>
              <a:buFont typeface="Arial"/>
              <a:buNone/>
            </a:pPr>
            <a:r>
              <a:rPr lang="en-US" b="1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Response to the cold-start problem: free onboarding incentives can bring existing supply chains onto the platform.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 txBox="1">
            <a:spLocks noGrp="1"/>
          </p:cNvSpPr>
          <p:nvPr>
            <p:ph type="sldNum" idx="4294967295"/>
          </p:nvPr>
        </p:nvSpPr>
        <p:spPr>
          <a:xfrm>
            <a:off x="11356848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800" b="0" i="0" u="none" strike="noStrike" cap="non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563716-DFE8-8C9C-DB52-E785D5ABBA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683"/>
          <a:stretch>
            <a:fillRect/>
          </a:stretch>
        </p:blipFill>
        <p:spPr>
          <a:xfrm>
            <a:off x="11375064" y="171380"/>
            <a:ext cx="590605" cy="7545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"/>
          <p:cNvSpPr/>
          <p:nvPr/>
        </p:nvSpPr>
        <p:spPr>
          <a:xfrm>
            <a:off x="566928" y="34747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950"/>
              <a:buFont typeface="Arial"/>
              <a:buNone/>
            </a:pPr>
            <a:r>
              <a:rPr lang="en-US" sz="950" b="1" i="0" u="none" strike="noStrike" cap="none" dirty="0">
                <a:solidFill>
                  <a:srgbClr val="E1652B"/>
                </a:solidFill>
                <a:latin typeface="Arial"/>
                <a:ea typeface="Arial"/>
                <a:cs typeface="Arial"/>
                <a:sym typeface="Arial"/>
              </a:rPr>
              <a:t>08  |  MVP</a:t>
            </a:r>
            <a:endParaRPr sz="950" b="0" i="0" u="none" strike="noStrike" cap="none" dirty="0">
              <a:solidFill>
                <a:srgbClr val="E165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566928" y="658368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2600"/>
              <a:buFont typeface="Play"/>
              <a:buNone/>
            </a:pPr>
            <a:r>
              <a:rPr lang="en-US" sz="2800" b="1" i="0" u="none" strike="noStrike" cap="none">
                <a:solidFill>
                  <a:srgbClr val="0D2A43"/>
                </a:solidFill>
                <a:latin typeface="Play"/>
                <a:ea typeface="Play"/>
                <a:cs typeface="Play"/>
                <a:sym typeface="Play"/>
              </a:rPr>
              <a:t>Five must-have functions for Phase 1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585216" y="1197864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200"/>
              <a:buFont typeface="Arial"/>
              <a:buNone/>
            </a:pPr>
            <a:r>
              <a:rPr lang="en-US" sz="23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The MVP keeps the product narrow: procurement + delivery tracking closed loop.</a:t>
            </a: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658368" y="1810512"/>
            <a:ext cx="693115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822960" y="1965960"/>
            <a:ext cx="585216" cy="493776"/>
          </a:xfrm>
          <a:prstGeom prst="roundRect">
            <a:avLst>
              <a:gd name="adj" fmla="val 14815"/>
            </a:avLst>
          </a:prstGeom>
          <a:solidFill>
            <a:srgbClr val="2B6CB0"/>
          </a:solidFill>
          <a:ln w="12700" cap="flat" cmpd="sng">
            <a:solidFill>
              <a:srgbClr val="2B6C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</a:rPr>
              <a:t>01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1512950" y="208065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300"/>
              <a:buFont typeface="Arial"/>
              <a:buNone/>
            </a:pPr>
            <a:r>
              <a:rPr lang="en-US" sz="15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Account &amp; Role Management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3675900" y="1975100"/>
            <a:ext cx="3824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70"/>
              <a:buFont typeface="Arial"/>
              <a:buNone/>
            </a:pPr>
            <a:r>
              <a:rPr lang="en-US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Contractor, Supplier and Site Inspector roles + access control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58368" y="2715768"/>
            <a:ext cx="693115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822960" y="2871216"/>
            <a:ext cx="585216" cy="493776"/>
          </a:xfrm>
          <a:prstGeom prst="roundRect">
            <a:avLst>
              <a:gd name="adj" fmla="val 14815"/>
            </a:avLst>
          </a:prstGeom>
          <a:solidFill>
            <a:srgbClr val="7C67B7"/>
          </a:solidFill>
          <a:ln w="12700" cap="flat" cmpd="sng">
            <a:solidFill>
              <a:srgbClr val="7C6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</a:rPr>
              <a:t>02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1512950" y="2985906"/>
            <a:ext cx="2103120" cy="27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3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Delivery Management</a:t>
            </a:r>
          </a:p>
        </p:txBody>
      </p:sp>
      <p:sp>
        <p:nvSpPr>
          <p:cNvPr id="315" name="Google Shape;315;p12"/>
          <p:cNvSpPr/>
          <p:nvPr/>
        </p:nvSpPr>
        <p:spPr>
          <a:xfrm>
            <a:off x="3675900" y="2880356"/>
            <a:ext cx="3824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70"/>
              <a:buFont typeface="Arial"/>
              <a:buNone/>
            </a:pPr>
            <a:r>
              <a:rPr lang="en-US" b="0" i="0" u="none" strike="noStrike" cap="none" dirty="0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Material, specification, quantity, supplier, value and time slot</a:t>
            </a: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658368" y="3621024"/>
            <a:ext cx="693115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822960" y="3776472"/>
            <a:ext cx="585216" cy="493776"/>
          </a:xfrm>
          <a:prstGeom prst="roundRect">
            <a:avLst>
              <a:gd name="adj" fmla="val 14815"/>
            </a:avLst>
          </a:prstGeom>
          <a:solidFill>
            <a:srgbClr val="E6A23C"/>
          </a:solidFill>
          <a:ln w="12700" cap="flat" cmpd="sng">
            <a:solidFill>
              <a:srgbClr val="E6A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</a:rPr>
              <a:t>03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1512950" y="389116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300"/>
              <a:buFont typeface="Arial"/>
              <a:buNone/>
            </a:pPr>
            <a:r>
              <a:rPr lang="en-US" sz="15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Delivery Status Tracking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3675900" y="3785613"/>
            <a:ext cx="3824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70"/>
              <a:buFont typeface="Arial"/>
              <a:buNone/>
            </a:pPr>
            <a:r>
              <a:rPr lang="en-US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Supplier updates status: Preparing → In Transit → Delivered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658368" y="4526280"/>
            <a:ext cx="693115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822960" y="4681728"/>
            <a:ext cx="585216" cy="493776"/>
          </a:xfrm>
          <a:prstGeom prst="roundRect">
            <a:avLst>
              <a:gd name="adj" fmla="val 14815"/>
            </a:avLst>
          </a:prstGeom>
          <a:solidFill>
            <a:srgbClr val="3FA37C"/>
          </a:solidFill>
          <a:ln w="12700" cap="flat" cmpd="sng">
            <a:solidFill>
              <a:srgbClr val="3FA3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</a:rPr>
              <a:t>04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1512950" y="4796419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300"/>
              <a:buFont typeface="Arial"/>
              <a:buNone/>
            </a:pPr>
            <a:r>
              <a:rPr lang="en-US" sz="15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Receiving &amp; Quality Documentation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3675900" y="4690869"/>
            <a:ext cx="3824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70"/>
              <a:buFont typeface="Arial"/>
              <a:buNone/>
            </a:pPr>
            <a:r>
              <a:rPr lang="en-US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Actual quantity + PDF / JPG review → Accepted / Partial / Rejected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658368" y="5431536"/>
            <a:ext cx="693115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822960" y="5586984"/>
            <a:ext cx="585216" cy="493776"/>
          </a:xfrm>
          <a:prstGeom prst="roundRect">
            <a:avLst>
              <a:gd name="adj" fmla="val 14815"/>
            </a:avLst>
          </a:prstGeom>
          <a:solidFill>
            <a:srgbClr val="193B5A"/>
          </a:solidFill>
          <a:ln w="12700" cap="flat" cmpd="sng">
            <a:solidFill>
              <a:srgbClr val="193B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</a:rPr>
              <a:t>05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1512950" y="5701675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300"/>
              <a:buFont typeface="Arial"/>
              <a:buNone/>
            </a:pPr>
            <a:r>
              <a:rPr lang="en-US" sz="15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Retention &amp; Completion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3675900" y="5596125"/>
            <a:ext cx="3824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070"/>
              <a:buFont typeface="Arial"/>
              <a:buNone/>
            </a:pPr>
            <a:r>
              <a:rPr lang="en-US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Retention on accepted value at contract rate (3%–10%) + mandatory 1–5 rating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7882128" y="1810512"/>
            <a:ext cx="3657600" cy="4416552"/>
          </a:xfrm>
          <a:prstGeom prst="roundRect">
            <a:avLst>
              <a:gd name="adj" fmla="val 1750"/>
            </a:avLst>
          </a:prstGeom>
          <a:solidFill>
            <a:srgbClr val="0D2A43"/>
          </a:solidFill>
          <a:ln w="12700" cap="flat" cmpd="sng">
            <a:solidFill>
              <a:srgbClr val="0D2A43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8174718" y="2084825"/>
            <a:ext cx="2192700" cy="310800"/>
          </a:xfrm>
          <a:prstGeom prst="roundRect">
            <a:avLst>
              <a:gd name="adj" fmla="val 26471"/>
            </a:avLst>
          </a:prstGeom>
          <a:solidFill>
            <a:srgbClr val="3FA37C"/>
          </a:solidFill>
          <a:ln w="12700" cap="flat" cmpd="sng">
            <a:solidFill>
              <a:srgbClr val="3FA3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</a:rPr>
              <a:t>FUTURE SCOPE</a:t>
            </a:r>
            <a:endParaRPr sz="1800"/>
          </a:p>
        </p:txBody>
      </p:sp>
      <p:sp>
        <p:nvSpPr>
          <p:cNvPr id="330" name="Google Shape;330;p12"/>
          <p:cNvSpPr/>
          <p:nvPr/>
        </p:nvSpPr>
        <p:spPr>
          <a:xfrm>
            <a:off x="8174718" y="2487168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Should Have · Phase 2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8174723" y="2852928"/>
            <a:ext cx="31089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8F2"/>
              </a:buClr>
              <a:buSzPts val="1170"/>
              <a:buFont typeface="Arial"/>
              <a:buNone/>
            </a:pPr>
            <a:r>
              <a:rPr lang="en-US" b="0" i="0" u="none" strike="noStrike" cap="none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• RFQ &amp; quotation comparison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8F2"/>
              </a:buClr>
              <a:buSzPts val="1170"/>
              <a:buFont typeface="Arial"/>
              <a:buNone/>
            </a:pPr>
            <a:r>
              <a:rPr lang="en-US" b="0" i="0" u="none" strike="noStrike" cap="none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• LINE notifications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8F2"/>
              </a:buClr>
              <a:buSzPts val="1170"/>
              <a:buFont typeface="Arial"/>
              <a:buNone/>
            </a:pPr>
            <a:r>
              <a:rPr lang="en-US" b="0" i="0" u="none" strike="noStrike" cap="none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• Digital payment requests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8F2"/>
              </a:buClr>
              <a:buSzPts val="1170"/>
              <a:buFont typeface="Arial"/>
              <a:buNone/>
            </a:pPr>
            <a:r>
              <a:rPr lang="en-US" b="0" i="0" u="none" strike="noStrike" cap="none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• Advanced analytics, Pro tier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8F2"/>
              </a:buClr>
              <a:buSzPts val="1170"/>
              <a:buFont typeface="Arial"/>
              <a:buNone/>
            </a:pPr>
            <a:r>
              <a:rPr lang="en-US" b="0" i="0" u="none" strike="noStrike" cap="none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• Featured supplier listings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8F2"/>
              </a:buClr>
              <a:buSzPts val="1170"/>
              <a:buFont typeface="Arial"/>
              <a:buNone/>
            </a:pPr>
            <a:r>
              <a:rPr lang="en-US" b="0" i="0" u="none" strike="noStrike" cap="none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• Mobile optimization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8174717" y="4206240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Could Have · Phase 3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8174736" y="4572000"/>
            <a:ext cx="27432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8F2"/>
              </a:buClr>
              <a:buSzPts val="1170"/>
              <a:buFont typeface="Arial"/>
              <a:buNone/>
            </a:pPr>
            <a:r>
              <a:rPr lang="en-US" b="0" i="0" u="none" strike="noStrike" cap="none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• OCR for quality inspection PDFs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8F2"/>
              </a:buClr>
              <a:buSzPts val="1170"/>
              <a:buFont typeface="Arial"/>
              <a:buNone/>
            </a:pPr>
            <a:r>
              <a:rPr lang="en-US" b="0" i="0" u="none" strike="noStrike" cap="none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• Budget-overrun alerts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8F2"/>
              </a:buClr>
              <a:buSzPts val="1170"/>
              <a:buFont typeface="Arial"/>
              <a:buNone/>
            </a:pPr>
            <a:r>
              <a:rPr lang="en-US" b="0" i="0" u="none" strike="noStrike" cap="none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• GPS / logistics integration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8F2"/>
              </a:buClr>
              <a:buSzPts val="1170"/>
              <a:buFont typeface="Arial"/>
              <a:buNone/>
            </a:pPr>
            <a:r>
              <a:rPr lang="en-US" b="0" i="0" u="none" strike="noStrike" cap="none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• ERP integration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8F2"/>
              </a:buClr>
              <a:buSzPts val="1170"/>
              <a:buFont typeface="Arial"/>
              <a:buNone/>
            </a:pPr>
            <a:r>
              <a:rPr lang="en-US" b="0" i="0" u="none" strike="noStrike" cap="none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• Predictive delivery-risk analytics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8083150" y="5788155"/>
            <a:ext cx="3108900" cy="310800"/>
          </a:xfrm>
          <a:prstGeom prst="roundRect">
            <a:avLst>
              <a:gd name="adj" fmla="val 26471"/>
            </a:avLst>
          </a:prstGeom>
          <a:solidFill>
            <a:srgbClr val="2B6CB0"/>
          </a:solidFill>
          <a:ln w="12700" cap="flat" cmpd="sng">
            <a:solidFill>
              <a:srgbClr val="2B6C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</a:rPr>
              <a:t>KEEP THE MVP NARROW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35" name="Google Shape;335;p12"/>
          <p:cNvSpPr txBox="1">
            <a:spLocks noGrp="1"/>
          </p:cNvSpPr>
          <p:nvPr>
            <p:ph type="sldNum" idx="4294967295"/>
          </p:nvPr>
        </p:nvSpPr>
        <p:spPr>
          <a:xfrm>
            <a:off x="11356848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800" b="0" i="0" u="none" strike="noStrike" cap="non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F65442-8CD4-BB87-33A5-D78C8E4432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683"/>
          <a:stretch>
            <a:fillRect/>
          </a:stretch>
        </p:blipFill>
        <p:spPr>
          <a:xfrm>
            <a:off x="11375064" y="171380"/>
            <a:ext cx="590605" cy="7545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566928" y="34747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950"/>
              <a:buFont typeface="Arial"/>
              <a:buNone/>
            </a:pPr>
            <a:r>
              <a:rPr lang="en-US" sz="950" b="1" i="0" u="none" strike="noStrike" cap="none" dirty="0">
                <a:solidFill>
                  <a:srgbClr val="E1652B"/>
                </a:solidFill>
                <a:latin typeface="Arial"/>
                <a:ea typeface="Arial"/>
                <a:cs typeface="Arial"/>
                <a:sym typeface="Arial"/>
              </a:rPr>
              <a:t>09  |  ROADMAP</a:t>
            </a:r>
            <a:endParaRPr sz="950" b="0" i="0" u="none" strike="noStrike" cap="none" dirty="0">
              <a:solidFill>
                <a:srgbClr val="E165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66928" y="658368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2600"/>
              <a:buFont typeface="Play"/>
              <a:buNone/>
            </a:pPr>
            <a:r>
              <a:rPr lang="en-US" sz="2800" b="1" i="0" u="none" strike="noStrike" cap="none">
                <a:solidFill>
                  <a:srgbClr val="0D2A43"/>
                </a:solidFill>
                <a:latin typeface="Play"/>
                <a:ea typeface="Play"/>
                <a:cs typeface="Play"/>
                <a:sym typeface="Play"/>
              </a:rPr>
              <a:t>What funding would enable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85216" y="1197864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200"/>
              <a:buFont typeface="Arial"/>
              <a:buNone/>
            </a:pPr>
            <a:r>
              <a:rPr lang="en-US" sz="24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Funding would go to the MVP, a real pilot, and network growth.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58368" y="1810512"/>
            <a:ext cx="3520440" cy="4160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Cloned Shape 242"/>
          <p:cNvSpPr/>
          <p:nvPr/>
        </p:nvSpPr>
        <p:spPr>
          <a:xfrm>
            <a:off x="4343400" y="1810512"/>
            <a:ext cx="3520440" cy="4160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932699" y="2075700"/>
            <a:ext cx="2862000" cy="310800"/>
          </a:xfrm>
          <a:prstGeom prst="roundRect">
            <a:avLst>
              <a:gd name="adj" fmla="val 26471"/>
            </a:avLst>
          </a:prstGeom>
          <a:solidFill>
            <a:srgbClr val="2B6CB0"/>
          </a:solidFill>
          <a:ln w="12700" cap="flat" cmpd="sng">
            <a:solidFill>
              <a:srgbClr val="2B6C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</a:rPr>
              <a:t>PHASE 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3" name="Cloned Shape 243"/>
          <p:cNvSpPr/>
          <p:nvPr/>
        </p:nvSpPr>
        <p:spPr>
          <a:xfrm>
            <a:off x="4617731" y="2075700"/>
            <a:ext cx="2862000" cy="310800"/>
          </a:xfrm>
          <a:prstGeom prst="roundRect">
            <a:avLst>
              <a:gd name="adj" fmla="val 26471"/>
            </a:avLst>
          </a:prstGeom>
          <a:solidFill>
            <a:srgbClr val="7C67B7"/>
          </a:solidFill>
          <a:ln w="12700" cap="flat" cmpd="sng">
            <a:solidFill>
              <a:srgbClr val="7C6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</a:rPr>
              <a:t>PHASE 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932688" y="2514600"/>
            <a:ext cx="303580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SiteProof MVP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Cloned Shape 244"/>
          <p:cNvSpPr/>
          <p:nvPr/>
        </p:nvSpPr>
        <p:spPr>
          <a:xfrm>
            <a:off x="4617720" y="2514600"/>
            <a:ext cx="303580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SiteProof Expansion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777240" y="3383280"/>
            <a:ext cx="315468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31470" algn="l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20"/>
              <a:buFont typeface="Arial"/>
              <a:buChar char="●"/>
            </a:pPr>
            <a:r>
              <a:rPr lang="en-US" sz="1620" b="0" i="0" u="none" strike="noStrike" cap="none" dirty="0">
                <a:solidFill>
                  <a:srgbClr val="1A2430"/>
                </a:solidFill>
                <a:latin typeface="Arial"/>
                <a:ea typeface="Arial"/>
                <a:cs typeface="Arial"/>
                <a:sym typeface="Arial"/>
              </a:rPr>
              <a:t>Build the five must-have functions</a:t>
            </a:r>
            <a:endParaRPr sz="1620" b="0" i="0" u="none" strike="noStrike" cap="none" dirty="0">
              <a:solidFill>
                <a:srgbClr val="1A24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20"/>
              <a:buChar char="●"/>
            </a:pPr>
            <a:r>
              <a:rPr lang="en-US" sz="1620" dirty="0">
                <a:solidFill>
                  <a:srgbClr val="1A2430"/>
                </a:solidFill>
              </a:rPr>
              <a:t>Pilot with 1–2 contractors to validate impact</a:t>
            </a:r>
            <a:endParaRPr sz="1620" dirty="0">
              <a:solidFill>
                <a:srgbClr val="1A2430"/>
              </a:solidFill>
            </a:endParaRPr>
          </a:p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20"/>
              <a:buChar char="●"/>
            </a:pPr>
            <a:r>
              <a:rPr lang="en-US" sz="1620" dirty="0">
                <a:solidFill>
                  <a:srgbClr val="1A2430"/>
                </a:solidFill>
              </a:rPr>
              <a:t>Storage for quality and ESG documents</a:t>
            </a:r>
            <a:endParaRPr sz="1620" dirty="0">
              <a:solidFill>
                <a:srgbClr val="1A2430"/>
              </a:solidFill>
            </a:endParaRPr>
          </a:p>
        </p:txBody>
      </p:sp>
      <p:sp>
        <p:nvSpPr>
          <p:cNvPr id="245" name="Cloned Shape 245"/>
          <p:cNvSpPr/>
          <p:nvPr/>
        </p:nvSpPr>
        <p:spPr>
          <a:xfrm>
            <a:off x="4462272" y="3383280"/>
            <a:ext cx="315468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31470" algn="l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20"/>
              <a:buFont typeface="Arial"/>
              <a:buChar char="●"/>
            </a:pPr>
            <a:r>
              <a:rPr lang="en-US" sz="1620" b="0" i="0" u="none" strike="noStrike" cap="none" dirty="0">
                <a:solidFill>
                  <a:srgbClr val="1A2430"/>
                </a:solidFill>
                <a:latin typeface="Arial"/>
                <a:ea typeface="Arial"/>
                <a:cs typeface="Arial"/>
                <a:sym typeface="Arial"/>
              </a:rPr>
              <a:t>RFQ &amp; quotation comparison</a:t>
            </a:r>
            <a:endParaRPr sz="1620" b="0" i="0" u="none" strike="noStrike" cap="none" dirty="0">
              <a:solidFill>
                <a:srgbClr val="1A24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20"/>
              <a:buChar char="●"/>
            </a:pPr>
            <a:r>
              <a:rPr lang="en-US" sz="1620" dirty="0">
                <a:solidFill>
                  <a:srgbClr val="1A2430"/>
                </a:solidFill>
              </a:rPr>
              <a:t>LINE notifications and digital payment requests</a:t>
            </a:r>
            <a:endParaRPr sz="1620" dirty="0">
              <a:solidFill>
                <a:srgbClr val="1A2430"/>
              </a:solidFill>
            </a:endParaRPr>
          </a:p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20"/>
              <a:buChar char="●"/>
            </a:pPr>
            <a:r>
              <a:rPr lang="en-US" sz="1620" dirty="0">
                <a:solidFill>
                  <a:srgbClr val="1A2430"/>
                </a:solidFill>
              </a:rPr>
              <a:t>Advanced analytics, Pro-tier features, featured listings, mobile optimization</a:t>
            </a:r>
            <a:endParaRPr sz="1620" dirty="0">
              <a:solidFill>
                <a:srgbClr val="1A2430"/>
              </a:solidFill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8028432" y="1810512"/>
            <a:ext cx="3492900" cy="4160400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8302748" y="2075700"/>
            <a:ext cx="2862000" cy="310800"/>
          </a:xfrm>
          <a:prstGeom prst="roundRect">
            <a:avLst>
              <a:gd name="adj" fmla="val 26471"/>
            </a:avLst>
          </a:prstGeom>
          <a:solidFill>
            <a:srgbClr val="3FA37C"/>
          </a:solidFill>
          <a:ln w="12700" cap="flat" cmpd="sng">
            <a:solidFill>
              <a:srgbClr val="3FA3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</a:rPr>
              <a:t>PHASE 3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8302752" y="2514600"/>
            <a:ext cx="303580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SiteProof Intelligence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 txBox="1">
            <a:spLocks noGrp="1"/>
          </p:cNvSpPr>
          <p:nvPr>
            <p:ph type="sldNum" idx="4294967295"/>
          </p:nvPr>
        </p:nvSpPr>
        <p:spPr>
          <a:xfrm>
            <a:off x="11356848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800" b="0" i="0" u="none" strike="noStrike" cap="non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8147304" y="3383280"/>
            <a:ext cx="315468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31470" algn="l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20"/>
              <a:buFont typeface="Arial"/>
              <a:buChar char="●"/>
            </a:pPr>
            <a:r>
              <a:rPr lang="en-US" sz="1620">
                <a:solidFill>
                  <a:srgbClr val="1A2430"/>
                </a:solidFill>
              </a:rPr>
              <a:t>OCR for quality inspection PDFs</a:t>
            </a:r>
            <a:endParaRPr sz="1620">
              <a:solidFill>
                <a:srgbClr val="1A2430"/>
              </a:solidFill>
            </a:endParaRPr>
          </a:p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20"/>
              <a:buChar char="●"/>
            </a:pPr>
            <a:r>
              <a:rPr lang="en-US" sz="1620">
                <a:solidFill>
                  <a:srgbClr val="1A2430"/>
                </a:solidFill>
              </a:rPr>
              <a:t>Budget-overrun alerts, GPS / logistics and ERP integration</a:t>
            </a:r>
            <a:endParaRPr sz="1620">
              <a:solidFill>
                <a:srgbClr val="1A2430"/>
              </a:solidFill>
            </a:endParaRPr>
          </a:p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20"/>
              <a:buChar char="●"/>
            </a:pPr>
            <a:r>
              <a:rPr lang="en-US" sz="1620">
                <a:solidFill>
                  <a:srgbClr val="1A2430"/>
                </a:solidFill>
              </a:rPr>
              <a:t>Predictive delivery-risk analytics</a:t>
            </a:r>
            <a:endParaRPr sz="1620">
              <a:solidFill>
                <a:srgbClr val="1A243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9D6EB4-C4EF-8068-5CDA-43F9596B4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683"/>
          <a:stretch>
            <a:fillRect/>
          </a:stretch>
        </p:blipFill>
        <p:spPr>
          <a:xfrm>
            <a:off x="11375064" y="171380"/>
            <a:ext cx="590605" cy="7545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/>
          <p:cNvSpPr/>
          <p:nvPr/>
        </p:nvSpPr>
        <p:spPr>
          <a:xfrm>
            <a:off x="566928" y="34747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950"/>
              <a:buFont typeface="Arial"/>
              <a:buNone/>
            </a:pPr>
            <a:r>
              <a:rPr lang="en-US" sz="950" b="1" i="0" u="none" strike="noStrike" cap="none" dirty="0">
                <a:solidFill>
                  <a:srgbClr val="E1652B"/>
                </a:solidFill>
                <a:latin typeface="Arial"/>
                <a:ea typeface="Arial"/>
                <a:cs typeface="Arial"/>
                <a:sym typeface="Arial"/>
              </a:rPr>
              <a:t>10  |  TEAM &amp; VALIDATION</a:t>
            </a:r>
            <a:endParaRPr sz="950" b="0" i="0" u="none" strike="noStrike" cap="none" dirty="0">
              <a:solidFill>
                <a:srgbClr val="E165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66925" y="658375"/>
            <a:ext cx="11027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2600"/>
              <a:buFont typeface="Play"/>
              <a:buNone/>
            </a:pPr>
            <a:r>
              <a:rPr lang="en-US" sz="2800" b="1" i="0" u="none" strike="noStrike" cap="none">
                <a:solidFill>
                  <a:srgbClr val="0D2A43"/>
                </a:solidFill>
                <a:latin typeface="Play"/>
                <a:ea typeface="Play"/>
                <a:cs typeface="Play"/>
                <a:sym typeface="Play"/>
              </a:rPr>
              <a:t>Domain expertise + software know-how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85216" y="1197864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200"/>
              <a:buFont typeface="Arial"/>
              <a:buNone/>
            </a:pPr>
            <a:r>
              <a:rPr lang="en-US" sz="2400" b="0" i="0" u="none" strike="noStrike" cap="none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The problem comes from the field; the product from both sides.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621792" y="1810512"/>
            <a:ext cx="5440680" cy="4251960"/>
          </a:xfrm>
          <a:prstGeom prst="roundRect">
            <a:avLst>
              <a:gd name="adj" fmla="val 1505"/>
            </a:avLst>
          </a:prstGeom>
          <a:solidFill>
            <a:srgbClr val="0D2A43"/>
          </a:solidFill>
          <a:ln w="12700" cap="flat" cmpd="sng">
            <a:solidFill>
              <a:srgbClr val="0D2A43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914400" y="2157984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D0FF"/>
              </a:buClr>
              <a:buSzPts val="1100"/>
              <a:buFont typeface="Arial"/>
              <a:buNone/>
            </a:pPr>
            <a:r>
              <a:rPr lang="en-US" sz="1800" b="1" i="0" u="none" strike="noStrike" cap="none">
                <a:solidFill>
                  <a:srgbClr val="8DD0FF"/>
                </a:solidFill>
                <a:latin typeface="Arial"/>
                <a:ea typeface="Arial"/>
                <a:cs typeface="Arial"/>
                <a:sym typeface="Arial"/>
              </a:rPr>
              <a:t>OUR VALIDATION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914400" y="2596896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Play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Built on real field work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914400" y="3163825"/>
            <a:ext cx="48999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CF4"/>
              </a:buClr>
              <a:buSzPts val="1300"/>
              <a:buFont typeface="Arial"/>
              <a:buNone/>
            </a:pPr>
            <a:r>
              <a:rPr lang="en-US" sz="1600" b="0" i="0" u="none" strike="noStrike" cap="none">
                <a:solidFill>
                  <a:srgbClr val="E2ECF4"/>
                </a:solidFill>
                <a:latin typeface="Arial"/>
                <a:ea typeface="Arial"/>
                <a:cs typeface="Arial"/>
                <a:sym typeface="Arial"/>
              </a:rPr>
              <a:t>Field experience as a civil engineer, research on Taiwan’s construction sector, and IT experience in software design shaped the three pain points and the MVP.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10"/>
          <p:cNvCxnSpPr/>
          <p:nvPr/>
        </p:nvCxnSpPr>
        <p:spPr>
          <a:xfrm>
            <a:off x="914400" y="4443984"/>
            <a:ext cx="4297680" cy="0"/>
          </a:xfrm>
          <a:prstGeom prst="straightConnector1">
            <a:avLst/>
          </a:prstGeom>
          <a:noFill/>
          <a:ln w="12700" cap="flat" cmpd="sng">
            <a:solidFill>
              <a:srgbClr val="4967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10"/>
          <p:cNvSpPr/>
          <p:nvPr/>
        </p:nvSpPr>
        <p:spPr>
          <a:xfrm>
            <a:off x="914400" y="4690875"/>
            <a:ext cx="4693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 step: validate with a pilot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914400" y="5056625"/>
            <a:ext cx="47967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6E7"/>
              </a:buClr>
              <a:buSzPts val="1150"/>
              <a:buFont typeface="Arial"/>
              <a:buNone/>
            </a:pPr>
            <a:r>
              <a:rPr lang="en-US" sz="1600" b="0" i="0" u="none" strike="noStrike" cap="none">
                <a:solidFill>
                  <a:srgbClr val="BFD6E7"/>
                </a:solidFill>
                <a:latin typeface="Arial"/>
                <a:ea typeface="Arial"/>
                <a:cs typeface="Arial"/>
                <a:sym typeface="Arial"/>
              </a:rPr>
              <a:t>Measure efficiency gains in a real pilot project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389625" y="1810500"/>
            <a:ext cx="5526000" cy="425190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CBD5E1">
                <a:alpha val="1411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7260825" y="2097688"/>
            <a:ext cx="3783600" cy="310800"/>
          </a:xfrm>
          <a:prstGeom prst="roundRect">
            <a:avLst>
              <a:gd name="adj" fmla="val 26471"/>
            </a:avLst>
          </a:prstGeom>
          <a:solidFill>
            <a:srgbClr val="3FA37C"/>
          </a:solidFill>
          <a:ln w="12700" cap="flat" cmpd="sng">
            <a:solidFill>
              <a:srgbClr val="3FA3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1600" b="1" dirty="0">
                <a:solidFill>
                  <a:schemeClr val="lt1"/>
                </a:solidFill>
              </a:rPr>
              <a:t>THE TEAM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889485" y="2573017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Two complementary backgrounds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583680" y="3310128"/>
            <a:ext cx="347472" cy="347472"/>
          </a:xfrm>
          <a:prstGeom prst="ellipse">
            <a:avLst/>
          </a:prstGeom>
          <a:solidFill>
            <a:srgbClr val="2B6CB0"/>
          </a:solidFill>
          <a:ln w="12700" cap="flat" cmpd="sng">
            <a:solidFill>
              <a:srgbClr val="2B6C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-US" sz="1500" b="1">
                <a:solidFill>
                  <a:schemeClr val="lt1"/>
                </a:solidFill>
              </a:rPr>
              <a:t>✓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7150600" y="3381250"/>
            <a:ext cx="233172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200"/>
              <a:buFont typeface="Arial"/>
              <a:buNone/>
            </a:pPr>
            <a:r>
              <a:rPr lang="en-US" sz="15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A. Samuel Arzamendia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9499878" y="3355975"/>
            <a:ext cx="27429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1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Civil Engineering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583680" y="4114800"/>
            <a:ext cx="347472" cy="347472"/>
          </a:xfrm>
          <a:prstGeom prst="ellipse">
            <a:avLst/>
          </a:prstGeom>
          <a:solidFill>
            <a:srgbClr val="7C67B7"/>
          </a:solidFill>
          <a:ln w="12700" cap="flat" cmpd="sng">
            <a:solidFill>
              <a:srgbClr val="7C6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-US" sz="1500" b="1">
                <a:solidFill>
                  <a:schemeClr val="lt1"/>
                </a:solidFill>
              </a:rPr>
              <a:t>✓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7150599" y="4174453"/>
            <a:ext cx="233172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200"/>
              <a:buFont typeface="Arial"/>
              <a:buNone/>
            </a:pPr>
            <a:r>
              <a:rPr lang="en-US" sz="15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Po-Hao Cheng (鄭博浩)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9499878" y="4151441"/>
            <a:ext cx="27429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1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Information Technology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583680" y="4919472"/>
            <a:ext cx="347472" cy="347472"/>
          </a:xfrm>
          <a:prstGeom prst="ellipse">
            <a:avLst/>
          </a:prstGeom>
          <a:solidFill>
            <a:srgbClr val="D96A6A"/>
          </a:solidFill>
          <a:ln w="12700" cap="flat" cmpd="sng">
            <a:solidFill>
              <a:srgbClr val="D96A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-US" sz="1500" b="1">
                <a:solidFill>
                  <a:schemeClr val="lt1"/>
                </a:solidFill>
              </a:rPr>
              <a:t>✓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7150599" y="4979125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A43"/>
              </a:buClr>
              <a:buSzPts val="1200"/>
              <a:buFont typeface="Arial"/>
              <a:buNone/>
            </a:pPr>
            <a:r>
              <a:rPr lang="en-US" sz="1500" b="1" i="0" u="none" strike="noStrike" cap="none">
                <a:solidFill>
                  <a:srgbClr val="0D2A43"/>
                </a:solidFill>
                <a:latin typeface="Arial"/>
                <a:ea typeface="Arial"/>
                <a:cs typeface="Arial"/>
                <a:sym typeface="Arial"/>
              </a:rPr>
              <a:t>Together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9499878" y="4919472"/>
            <a:ext cx="27429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B7A"/>
              </a:buClr>
              <a:buSzPts val="11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5D6B7A"/>
                </a:solidFill>
                <a:latin typeface="Arial"/>
                <a:ea typeface="Arial"/>
                <a:cs typeface="Arial"/>
                <a:sym typeface="Arial"/>
              </a:rPr>
              <a:t>field problem + software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7282900" y="5555250"/>
            <a:ext cx="3783600" cy="310800"/>
          </a:xfrm>
          <a:prstGeom prst="roundRect">
            <a:avLst>
              <a:gd name="adj" fmla="val 26471"/>
            </a:avLst>
          </a:prstGeom>
          <a:solidFill>
            <a:srgbClr val="193B5A"/>
          </a:solidFill>
          <a:ln w="12700" cap="flat" cmpd="sng">
            <a:solidFill>
              <a:srgbClr val="193B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 sz="1600" b="1" dirty="0">
                <a:solidFill>
                  <a:schemeClr val="lt1"/>
                </a:solidFill>
              </a:rPr>
              <a:t>DOMAIN + TECHNOLOGY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70" name="Google Shape;270;p10"/>
          <p:cNvSpPr txBox="1">
            <a:spLocks noGrp="1"/>
          </p:cNvSpPr>
          <p:nvPr>
            <p:ph type="sldNum" idx="4294967295"/>
          </p:nvPr>
        </p:nvSpPr>
        <p:spPr>
          <a:xfrm>
            <a:off x="11356848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800" b="0" i="0" u="none" strike="noStrike" cap="non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A91E73-8448-3989-B057-AF73DC4880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683"/>
          <a:stretch>
            <a:fillRect/>
          </a:stretch>
        </p:blipFill>
        <p:spPr>
          <a:xfrm>
            <a:off x="11375064" y="171380"/>
            <a:ext cx="590605" cy="7545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A43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"/>
          <p:cNvSpPr/>
          <p:nvPr/>
        </p:nvSpPr>
        <p:spPr>
          <a:xfrm>
            <a:off x="576072" y="42196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D0FF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566928" y="650562"/>
            <a:ext cx="7818120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 focused digital layer</a:t>
            </a:r>
            <a:endParaRPr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for construction delivery.</a:t>
            </a:r>
            <a:endParaRPr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594360" y="2433642"/>
            <a:ext cx="7818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8F2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SiteProof does not replace the entire ERP system. It connects material procurement, on-site delivery, quality documents, retention, and supplier performance in one workflow.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13"/>
          <p:cNvCxnSpPr/>
          <p:nvPr/>
        </p:nvCxnSpPr>
        <p:spPr>
          <a:xfrm>
            <a:off x="743565" y="4235640"/>
            <a:ext cx="640200" cy="0"/>
          </a:xfrm>
          <a:prstGeom prst="straightConnector1">
            <a:avLst/>
          </a:prstGeom>
          <a:noFill/>
          <a:ln w="38100" cap="flat" cmpd="sng">
            <a:solidFill>
              <a:srgbClr val="2B6CB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5" name="Google Shape;345;p13"/>
          <p:cNvSpPr/>
          <p:nvPr/>
        </p:nvSpPr>
        <p:spPr>
          <a:xfrm>
            <a:off x="1500048" y="4137524"/>
            <a:ext cx="1675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D0FF"/>
              </a:buClr>
              <a:buSzPts val="1000"/>
              <a:buFont typeface="Arial"/>
              <a:buNone/>
            </a:pPr>
            <a:r>
              <a:rPr lang="en-US" b="1" i="0" u="none" strike="noStrike" cap="none">
                <a:solidFill>
                  <a:srgbClr val="8DD0FF"/>
                </a:solidFill>
                <a:latin typeface="Arial"/>
                <a:ea typeface="Arial"/>
                <a:cs typeface="Arial"/>
                <a:sym typeface="Arial"/>
              </a:rPr>
              <a:t>CONTRACTORS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3105959" y="4084840"/>
            <a:ext cx="54408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Arial"/>
              <a:buNone/>
            </a:pPr>
            <a:r>
              <a:rPr lang="en-US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Better cost, schedule, quality, and supplier visibility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13"/>
          <p:cNvCxnSpPr/>
          <p:nvPr/>
        </p:nvCxnSpPr>
        <p:spPr>
          <a:xfrm>
            <a:off x="743565" y="4830000"/>
            <a:ext cx="640080" cy="0"/>
          </a:xfrm>
          <a:prstGeom prst="straightConnector1">
            <a:avLst/>
          </a:prstGeom>
          <a:noFill/>
          <a:ln w="38100" cap="flat" cmpd="sng">
            <a:solidFill>
              <a:srgbClr val="3FA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8" name="Google Shape;348;p13"/>
          <p:cNvSpPr/>
          <p:nvPr/>
        </p:nvSpPr>
        <p:spPr>
          <a:xfrm>
            <a:off x="1500048" y="4731886"/>
            <a:ext cx="1675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D0FF"/>
              </a:buClr>
              <a:buSzPts val="1000"/>
              <a:buFont typeface="Arial"/>
              <a:buNone/>
            </a:pPr>
            <a:r>
              <a:rPr lang="en-US" b="1" i="0" u="none" strike="noStrike" cap="none">
                <a:solidFill>
                  <a:srgbClr val="8DD0FF"/>
                </a:solidFill>
                <a:latin typeface="Arial"/>
                <a:ea typeface="Arial"/>
                <a:cs typeface="Arial"/>
                <a:sym typeface="Arial"/>
              </a:rPr>
              <a:t>SUPPLIERS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3105959" y="4679200"/>
            <a:ext cx="54408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Arial"/>
              <a:buNone/>
            </a:pPr>
            <a:r>
              <a:rPr lang="en-US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Less paperwork + digital performance record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13"/>
          <p:cNvCxnSpPr/>
          <p:nvPr/>
        </p:nvCxnSpPr>
        <p:spPr>
          <a:xfrm>
            <a:off x="743565" y="5424360"/>
            <a:ext cx="640080" cy="0"/>
          </a:xfrm>
          <a:prstGeom prst="straightConnector1">
            <a:avLst/>
          </a:prstGeom>
          <a:noFill/>
          <a:ln w="38100" cap="flat" cmpd="sng">
            <a:solidFill>
              <a:srgbClr val="7C67B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1" name="Google Shape;351;p13"/>
          <p:cNvSpPr/>
          <p:nvPr/>
        </p:nvSpPr>
        <p:spPr>
          <a:xfrm>
            <a:off x="1500048" y="5326248"/>
            <a:ext cx="1675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D0FF"/>
              </a:buClr>
              <a:buSzPts val="1000"/>
              <a:buFont typeface="Arial"/>
              <a:buNone/>
            </a:pPr>
            <a:r>
              <a:rPr lang="en-US" b="1" i="0" u="none" strike="noStrike" cap="none">
                <a:solidFill>
                  <a:srgbClr val="8DD0FF"/>
                </a:solidFill>
                <a:latin typeface="Arial"/>
                <a:ea typeface="Arial"/>
                <a:cs typeface="Arial"/>
                <a:sym typeface="Arial"/>
              </a:rPr>
              <a:t>PLATFORM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3105959" y="5273560"/>
            <a:ext cx="54408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Arial"/>
              <a:buNone/>
            </a:pPr>
            <a:r>
              <a:rPr lang="en-US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Simple adoption + zero transaction fees + scalable SaaS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8595360" y="1051560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D0FF"/>
              </a:buClr>
              <a:buSzPts val="11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8DD0FF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3"/>
          <p:cNvSpPr/>
          <p:nvPr/>
        </p:nvSpPr>
        <p:spPr>
          <a:xfrm rot="5400000">
            <a:off x="9582912" y="1417319"/>
            <a:ext cx="420624" cy="310896"/>
          </a:xfrm>
          <a:prstGeom prst="chevron">
            <a:avLst>
              <a:gd name="adj" fmla="val 50000"/>
            </a:avLst>
          </a:prstGeom>
          <a:solidFill>
            <a:srgbClr val="E1652B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6" name="Google Shape;356;p13"/>
          <p:cNvSpPr/>
          <p:nvPr/>
        </p:nvSpPr>
        <p:spPr>
          <a:xfrm>
            <a:off x="8595360" y="1783080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D0FF"/>
              </a:buClr>
              <a:buSzPts val="11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8DD0FF"/>
                </a:solidFill>
                <a:latin typeface="Arial"/>
                <a:ea typeface="Arial"/>
                <a:cs typeface="Arial"/>
                <a:sym typeface="Arial"/>
              </a:rPr>
              <a:t>DELIVERY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3"/>
          <p:cNvSpPr/>
          <p:nvPr/>
        </p:nvSpPr>
        <p:spPr>
          <a:xfrm rot="5400000">
            <a:off x="9582912" y="2148840"/>
            <a:ext cx="420624" cy="310896"/>
          </a:xfrm>
          <a:prstGeom prst="chevron">
            <a:avLst>
              <a:gd name="adj" fmla="val 50000"/>
            </a:avLst>
          </a:prstGeom>
          <a:solidFill>
            <a:srgbClr val="E1652B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8595360" y="2514600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D0FF"/>
              </a:buClr>
              <a:buSzPts val="11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8DD0FF"/>
                </a:solidFill>
                <a:latin typeface="Arial"/>
                <a:ea typeface="Arial"/>
                <a:cs typeface="Arial"/>
                <a:sym typeface="Arial"/>
              </a:rPr>
              <a:t>INSPECTION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/>
          <p:nvPr/>
        </p:nvSpPr>
        <p:spPr>
          <a:xfrm rot="5400000">
            <a:off x="9582912" y="2880360"/>
            <a:ext cx="420624" cy="310896"/>
          </a:xfrm>
          <a:prstGeom prst="chevron">
            <a:avLst>
              <a:gd name="adj" fmla="val 50000"/>
            </a:avLst>
          </a:prstGeom>
          <a:solidFill>
            <a:srgbClr val="E1652B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Cloned Shape 365"/>
          <p:cNvSpPr/>
          <p:nvPr/>
        </p:nvSpPr>
        <p:spPr>
          <a:xfrm rot="5400000">
            <a:off x="9582912" y="3611880"/>
            <a:ext cx="420624" cy="310896"/>
          </a:xfrm>
          <a:prstGeom prst="chevron">
            <a:avLst>
              <a:gd name="adj" fmla="val 50000"/>
            </a:avLst>
          </a:prstGeom>
          <a:solidFill>
            <a:srgbClr val="E1652B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8595360" y="3246120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D0FF"/>
              </a:buClr>
              <a:buSzPts val="11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8DD0FF"/>
                </a:solidFill>
                <a:latin typeface="Arial"/>
                <a:ea typeface="Arial"/>
                <a:cs typeface="Arial"/>
                <a:sym typeface="Arial"/>
              </a:rPr>
              <a:t>ACCEPTANCE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Cloned Shape 364"/>
          <p:cNvSpPr/>
          <p:nvPr/>
        </p:nvSpPr>
        <p:spPr>
          <a:xfrm>
            <a:off x="8595360" y="3977639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D0FF"/>
              </a:buClr>
              <a:buSzPts val="11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8DD0FF"/>
                </a:solidFill>
                <a:latin typeface="Arial"/>
                <a:ea typeface="Arial"/>
                <a:cs typeface="Arial"/>
                <a:sym typeface="Arial"/>
              </a:rPr>
              <a:t>COMPLETION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8816525" y="493776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SINGLE</a:t>
            </a: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DELIVERY RECORD</a:t>
            </a: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3"/>
          <p:cNvSpPr txBox="1">
            <a:spLocks noGrp="1"/>
          </p:cNvSpPr>
          <p:nvPr>
            <p:ph type="sldNum" idx="4294967295"/>
          </p:nvPr>
        </p:nvSpPr>
        <p:spPr>
          <a:xfrm>
            <a:off x="11356848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800" b="0" i="0" u="none" strike="noStrike" cap="non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734F70-4EBB-74DE-DF30-2AF38EE7FE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683"/>
          <a:stretch>
            <a:fillRect/>
          </a:stretch>
        </p:blipFill>
        <p:spPr>
          <a:xfrm>
            <a:off x="11375064" y="171380"/>
            <a:ext cx="590605" cy="754519"/>
          </a:xfrm>
          <a:prstGeom prst="rect">
            <a:avLst/>
          </a:prstGeom>
        </p:spPr>
      </p:pic>
      <p:sp>
        <p:nvSpPr>
          <p:cNvPr id="5" name="Google Shape;247;p10">
            <a:extLst>
              <a:ext uri="{FF2B5EF4-FFF2-40B4-BE49-F238E27FC236}">
                <a16:creationId xmlns:a16="http://schemas.microsoft.com/office/drawing/2014/main" id="{5949A230-7BED-3EDA-0998-EAC9B01352AA}"/>
              </a:ext>
            </a:extLst>
          </p:cNvPr>
          <p:cNvSpPr/>
          <p:nvPr/>
        </p:nvSpPr>
        <p:spPr>
          <a:xfrm>
            <a:off x="566928" y="34747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8DD0FF"/>
              </a:buClr>
              <a:buSzPts val="1000"/>
            </a:pPr>
            <a:r>
              <a:rPr lang="en-US" sz="900" b="1" dirty="0">
                <a:solidFill>
                  <a:srgbClr val="E1652B"/>
                </a:solidFill>
              </a:rPr>
              <a:t>11  |  CONCLUSION</a:t>
            </a:r>
            <a:endParaRPr lang="en-US" sz="900" dirty="0">
              <a:solidFill>
                <a:srgbClr val="E1652B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A43"/>
        </a:solidFill>
        <a:effectLst/>
      </p:bgPr>
    </p:bg>
    <p:spTree>
      <p:nvGrpSpPr>
        <p:cNvPr id="1" name="Shape 340">
          <a:extLst>
            <a:ext uri="{FF2B5EF4-FFF2-40B4-BE49-F238E27FC236}">
              <a16:creationId xmlns:a16="http://schemas.microsoft.com/office/drawing/2014/main" id="{9220A0CF-484A-CF65-14D4-03B592A92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3">
            <a:extLst>
              <a:ext uri="{FF2B5EF4-FFF2-40B4-BE49-F238E27FC236}">
                <a16:creationId xmlns:a16="http://schemas.microsoft.com/office/drawing/2014/main" id="{8C2B45F1-3F2D-88F8-F73D-285ECF3F1138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11356848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6A7685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800" b="0" i="0" u="none" strike="noStrike" cap="none">
              <a:solidFill>
                <a:srgbClr val="6A76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Google Shape;22;p4">
            <a:extLst>
              <a:ext uri="{FF2B5EF4-FFF2-40B4-BE49-F238E27FC236}">
                <a16:creationId xmlns:a16="http://schemas.microsoft.com/office/drawing/2014/main" id="{9E3CDFE2-15E4-C4D4-98ED-7FFF61D934D7}"/>
              </a:ext>
            </a:extLst>
          </p:cNvPr>
          <p:cNvCxnSpPr/>
          <p:nvPr/>
        </p:nvCxnSpPr>
        <p:spPr>
          <a:xfrm>
            <a:off x="471228" y="448279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23;p4">
            <a:extLst>
              <a:ext uri="{FF2B5EF4-FFF2-40B4-BE49-F238E27FC236}">
                <a16:creationId xmlns:a16="http://schemas.microsoft.com/office/drawing/2014/main" id="{B6655F10-D39A-94CF-AFE6-4BAE959592F8}"/>
              </a:ext>
            </a:extLst>
          </p:cNvPr>
          <p:cNvCxnSpPr/>
          <p:nvPr/>
        </p:nvCxnSpPr>
        <p:spPr>
          <a:xfrm>
            <a:off x="1251267" y="448279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24;p4">
            <a:extLst>
              <a:ext uri="{FF2B5EF4-FFF2-40B4-BE49-F238E27FC236}">
                <a16:creationId xmlns:a16="http://schemas.microsoft.com/office/drawing/2014/main" id="{84E7D6BE-8E9C-AA69-0E81-4AFA7F8F3B6A}"/>
              </a:ext>
            </a:extLst>
          </p:cNvPr>
          <p:cNvCxnSpPr/>
          <p:nvPr/>
        </p:nvCxnSpPr>
        <p:spPr>
          <a:xfrm>
            <a:off x="2119947" y="448279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25;p4">
            <a:extLst>
              <a:ext uri="{FF2B5EF4-FFF2-40B4-BE49-F238E27FC236}">
                <a16:creationId xmlns:a16="http://schemas.microsoft.com/office/drawing/2014/main" id="{57133976-0FED-34B8-D0D7-D4FE14324761}"/>
              </a:ext>
            </a:extLst>
          </p:cNvPr>
          <p:cNvCxnSpPr/>
          <p:nvPr/>
        </p:nvCxnSpPr>
        <p:spPr>
          <a:xfrm>
            <a:off x="2988627" y="448279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26;p4">
            <a:extLst>
              <a:ext uri="{FF2B5EF4-FFF2-40B4-BE49-F238E27FC236}">
                <a16:creationId xmlns:a16="http://schemas.microsoft.com/office/drawing/2014/main" id="{65F8FDA2-B245-FF74-7E72-38ABB49C60EB}"/>
              </a:ext>
            </a:extLst>
          </p:cNvPr>
          <p:cNvCxnSpPr/>
          <p:nvPr/>
        </p:nvCxnSpPr>
        <p:spPr>
          <a:xfrm>
            <a:off x="3857307" y="448279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27;p4">
            <a:extLst>
              <a:ext uri="{FF2B5EF4-FFF2-40B4-BE49-F238E27FC236}">
                <a16:creationId xmlns:a16="http://schemas.microsoft.com/office/drawing/2014/main" id="{D9742F91-DB83-9151-9226-BA7CC80EA9B9}"/>
              </a:ext>
            </a:extLst>
          </p:cNvPr>
          <p:cNvCxnSpPr>
            <a:cxnSpLocks/>
          </p:cNvCxnSpPr>
          <p:nvPr/>
        </p:nvCxnSpPr>
        <p:spPr>
          <a:xfrm>
            <a:off x="4702623" y="448279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28;p4">
            <a:extLst>
              <a:ext uri="{FF2B5EF4-FFF2-40B4-BE49-F238E27FC236}">
                <a16:creationId xmlns:a16="http://schemas.microsoft.com/office/drawing/2014/main" id="{09593C4D-F330-A915-18B9-368F31002410}"/>
              </a:ext>
            </a:extLst>
          </p:cNvPr>
          <p:cNvCxnSpPr/>
          <p:nvPr/>
        </p:nvCxnSpPr>
        <p:spPr>
          <a:xfrm>
            <a:off x="5594667" y="448279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29;p4">
            <a:extLst>
              <a:ext uri="{FF2B5EF4-FFF2-40B4-BE49-F238E27FC236}">
                <a16:creationId xmlns:a16="http://schemas.microsoft.com/office/drawing/2014/main" id="{07A76F94-8F26-F1D3-0F23-A8449DBB51D8}"/>
              </a:ext>
            </a:extLst>
          </p:cNvPr>
          <p:cNvCxnSpPr/>
          <p:nvPr/>
        </p:nvCxnSpPr>
        <p:spPr>
          <a:xfrm>
            <a:off x="6463347" y="448279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30;p4">
            <a:extLst>
              <a:ext uri="{FF2B5EF4-FFF2-40B4-BE49-F238E27FC236}">
                <a16:creationId xmlns:a16="http://schemas.microsoft.com/office/drawing/2014/main" id="{DB1C5EE8-BB78-A2D9-DEEE-2107BF94F7C6}"/>
              </a:ext>
            </a:extLst>
          </p:cNvPr>
          <p:cNvCxnSpPr/>
          <p:nvPr/>
        </p:nvCxnSpPr>
        <p:spPr>
          <a:xfrm>
            <a:off x="7332027" y="448279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31;p4">
            <a:extLst>
              <a:ext uri="{FF2B5EF4-FFF2-40B4-BE49-F238E27FC236}">
                <a16:creationId xmlns:a16="http://schemas.microsoft.com/office/drawing/2014/main" id="{94829857-714E-870F-0583-D3DEBF466BB0}"/>
              </a:ext>
            </a:extLst>
          </p:cNvPr>
          <p:cNvCxnSpPr/>
          <p:nvPr/>
        </p:nvCxnSpPr>
        <p:spPr>
          <a:xfrm>
            <a:off x="8200707" y="448279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32;p4">
            <a:extLst>
              <a:ext uri="{FF2B5EF4-FFF2-40B4-BE49-F238E27FC236}">
                <a16:creationId xmlns:a16="http://schemas.microsoft.com/office/drawing/2014/main" id="{60458D5B-8813-D289-F547-01179CD3A00B}"/>
              </a:ext>
            </a:extLst>
          </p:cNvPr>
          <p:cNvCxnSpPr/>
          <p:nvPr/>
        </p:nvCxnSpPr>
        <p:spPr>
          <a:xfrm>
            <a:off x="9069387" y="448279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33;p4">
            <a:extLst>
              <a:ext uri="{FF2B5EF4-FFF2-40B4-BE49-F238E27FC236}">
                <a16:creationId xmlns:a16="http://schemas.microsoft.com/office/drawing/2014/main" id="{FCF846C7-5CD9-1D00-89BC-F966988B4EF7}"/>
              </a:ext>
            </a:extLst>
          </p:cNvPr>
          <p:cNvCxnSpPr/>
          <p:nvPr/>
        </p:nvCxnSpPr>
        <p:spPr>
          <a:xfrm>
            <a:off x="9938067" y="448279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" name="Google Shape;34;p4">
            <a:extLst>
              <a:ext uri="{FF2B5EF4-FFF2-40B4-BE49-F238E27FC236}">
                <a16:creationId xmlns:a16="http://schemas.microsoft.com/office/drawing/2014/main" id="{B6CE5D9F-15C3-BED9-4759-E56B248550FD}"/>
              </a:ext>
            </a:extLst>
          </p:cNvPr>
          <p:cNvCxnSpPr/>
          <p:nvPr/>
        </p:nvCxnSpPr>
        <p:spPr>
          <a:xfrm>
            <a:off x="10806747" y="448279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35;p4">
            <a:extLst>
              <a:ext uri="{FF2B5EF4-FFF2-40B4-BE49-F238E27FC236}">
                <a16:creationId xmlns:a16="http://schemas.microsoft.com/office/drawing/2014/main" id="{90D9BB2B-3CE6-5753-09C6-02D1AC7813C0}"/>
              </a:ext>
            </a:extLst>
          </p:cNvPr>
          <p:cNvCxnSpPr/>
          <p:nvPr/>
        </p:nvCxnSpPr>
        <p:spPr>
          <a:xfrm>
            <a:off x="11675427" y="448279"/>
            <a:ext cx="0" cy="548640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36;p4">
            <a:extLst>
              <a:ext uri="{FF2B5EF4-FFF2-40B4-BE49-F238E27FC236}">
                <a16:creationId xmlns:a16="http://schemas.microsoft.com/office/drawing/2014/main" id="{9CF172F2-217B-7E72-EC13-6C767D50A28A}"/>
              </a:ext>
            </a:extLst>
          </p:cNvPr>
          <p:cNvCxnSpPr/>
          <p:nvPr/>
        </p:nvCxnSpPr>
        <p:spPr>
          <a:xfrm>
            <a:off x="382587" y="631159"/>
            <a:ext cx="11430000" cy="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37;p4">
            <a:extLst>
              <a:ext uri="{FF2B5EF4-FFF2-40B4-BE49-F238E27FC236}">
                <a16:creationId xmlns:a16="http://schemas.microsoft.com/office/drawing/2014/main" id="{2134A696-296E-5E88-E6AA-7E5CFBAAB892}"/>
              </a:ext>
            </a:extLst>
          </p:cNvPr>
          <p:cNvCxnSpPr/>
          <p:nvPr/>
        </p:nvCxnSpPr>
        <p:spPr>
          <a:xfrm>
            <a:off x="382587" y="1362679"/>
            <a:ext cx="11430000" cy="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38;p4">
            <a:extLst>
              <a:ext uri="{FF2B5EF4-FFF2-40B4-BE49-F238E27FC236}">
                <a16:creationId xmlns:a16="http://schemas.microsoft.com/office/drawing/2014/main" id="{EBC67065-9F35-DA60-4328-7C74C8EDD36E}"/>
              </a:ext>
            </a:extLst>
          </p:cNvPr>
          <p:cNvCxnSpPr/>
          <p:nvPr/>
        </p:nvCxnSpPr>
        <p:spPr>
          <a:xfrm>
            <a:off x="382587" y="2094199"/>
            <a:ext cx="11430000" cy="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39;p4">
            <a:extLst>
              <a:ext uri="{FF2B5EF4-FFF2-40B4-BE49-F238E27FC236}">
                <a16:creationId xmlns:a16="http://schemas.microsoft.com/office/drawing/2014/main" id="{B2E6D9C5-45A3-3CF6-4004-D06485097323}"/>
              </a:ext>
            </a:extLst>
          </p:cNvPr>
          <p:cNvCxnSpPr/>
          <p:nvPr/>
        </p:nvCxnSpPr>
        <p:spPr>
          <a:xfrm>
            <a:off x="382587" y="2825719"/>
            <a:ext cx="11430000" cy="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40;p4">
            <a:extLst>
              <a:ext uri="{FF2B5EF4-FFF2-40B4-BE49-F238E27FC236}">
                <a16:creationId xmlns:a16="http://schemas.microsoft.com/office/drawing/2014/main" id="{D2035A61-529F-C102-6AF8-3BECE65B1592}"/>
              </a:ext>
            </a:extLst>
          </p:cNvPr>
          <p:cNvCxnSpPr/>
          <p:nvPr/>
        </p:nvCxnSpPr>
        <p:spPr>
          <a:xfrm>
            <a:off x="382587" y="3557239"/>
            <a:ext cx="11430000" cy="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41;p4">
            <a:extLst>
              <a:ext uri="{FF2B5EF4-FFF2-40B4-BE49-F238E27FC236}">
                <a16:creationId xmlns:a16="http://schemas.microsoft.com/office/drawing/2014/main" id="{59CFA2D8-13D0-A194-873E-2AA535D38323}"/>
              </a:ext>
            </a:extLst>
          </p:cNvPr>
          <p:cNvCxnSpPr/>
          <p:nvPr/>
        </p:nvCxnSpPr>
        <p:spPr>
          <a:xfrm>
            <a:off x="382587" y="4288759"/>
            <a:ext cx="11430000" cy="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42;p4">
            <a:extLst>
              <a:ext uri="{FF2B5EF4-FFF2-40B4-BE49-F238E27FC236}">
                <a16:creationId xmlns:a16="http://schemas.microsoft.com/office/drawing/2014/main" id="{E7940DA5-02B8-6601-5424-5B4942D72787}"/>
              </a:ext>
            </a:extLst>
          </p:cNvPr>
          <p:cNvCxnSpPr/>
          <p:nvPr/>
        </p:nvCxnSpPr>
        <p:spPr>
          <a:xfrm>
            <a:off x="382587" y="5020279"/>
            <a:ext cx="11430000" cy="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2" name="Google Shape;362;p13">
            <a:extLst>
              <a:ext uri="{FF2B5EF4-FFF2-40B4-BE49-F238E27FC236}">
                <a16:creationId xmlns:a16="http://schemas.microsoft.com/office/drawing/2014/main" id="{50F914AF-CA22-1FBF-36B4-22E74FC8AF8C}"/>
              </a:ext>
            </a:extLst>
          </p:cNvPr>
          <p:cNvSpPr/>
          <p:nvPr/>
        </p:nvSpPr>
        <p:spPr>
          <a:xfrm>
            <a:off x="4763008" y="4284891"/>
            <a:ext cx="2665981" cy="76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</a:t>
            </a:r>
            <a:r>
              <a:rPr lang="en-US" sz="4000" b="1" dirty="0">
                <a:solidFill>
                  <a:srgbClr val="FFFFFF"/>
                </a:solidFill>
              </a:rPr>
              <a:t>Y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</a:t>
            </a:r>
          </a:p>
        </p:txBody>
      </p:sp>
      <p:cxnSp>
        <p:nvCxnSpPr>
          <p:cNvPr id="25" name="Google Shape;42;p4">
            <a:extLst>
              <a:ext uri="{FF2B5EF4-FFF2-40B4-BE49-F238E27FC236}">
                <a16:creationId xmlns:a16="http://schemas.microsoft.com/office/drawing/2014/main" id="{B273E3B3-D17E-906A-14A0-A84C81412F4E}"/>
              </a:ext>
            </a:extLst>
          </p:cNvPr>
          <p:cNvCxnSpPr/>
          <p:nvPr/>
        </p:nvCxnSpPr>
        <p:spPr>
          <a:xfrm>
            <a:off x="382587" y="5836176"/>
            <a:ext cx="11430000" cy="0"/>
          </a:xfrm>
          <a:prstGeom prst="straightConnector1">
            <a:avLst/>
          </a:prstGeom>
          <a:noFill/>
          <a:ln w="10150" cap="flat" cmpd="sng">
            <a:solidFill>
              <a:srgbClr val="244862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4" name="Recording 2026-09-29 102110">
            <a:hlinkClick r:id="" action="ppaction://media"/>
            <a:extLst>
              <a:ext uri="{FF2B5EF4-FFF2-40B4-BE49-F238E27FC236}">
                <a16:creationId xmlns:a16="http://schemas.microsoft.com/office/drawing/2014/main" id="{46DFEECB-9E48-7850-DB5C-1ACB5EA898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29837" y="1380521"/>
            <a:ext cx="7532321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7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3360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remove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  <p:bldLst>
      <p:bldP spid="36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1152</Words>
  <Application>Microsoft Office PowerPoint</Application>
  <PresentationFormat>Widescreen</PresentationFormat>
  <Paragraphs>264</Paragraphs>
  <Slides>13</Slides>
  <Notes>13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Samuel Arzamendia</cp:lastModifiedBy>
  <cp:revision>8</cp:revision>
  <dcterms:modified xsi:type="dcterms:W3CDTF">2026-09-30T07:17:18Z</dcterms:modified>
</cp:coreProperties>
</file>